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09" r:id="rId7"/>
    <p:sldId id="310" r:id="rId8"/>
    <p:sldId id="311" r:id="rId9"/>
    <p:sldId id="312" r:id="rId10"/>
    <p:sldId id="315" r:id="rId11"/>
    <p:sldId id="314"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5/3/2025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ransition spd="slow">
    <p:randomBar dir="vert"/>
  </p:transition>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irctc.co.in/nget/train-search" TargetMode="External"/><Relationship Id="rId2" Type="http://schemas.openxmlformats.org/officeDocument/2006/relationships/hyperlink" Target="https://www.yatra.com/" TargetMode="External"/><Relationship Id="rId1" Type="http://schemas.openxmlformats.org/officeDocument/2006/relationships/slideLayout" Target="../slideLayouts/slideLayout2.xml"/><Relationship Id="rId4" Type="http://schemas.openxmlformats.org/officeDocument/2006/relationships/hyperlink" Target="https://www.redbus.i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dirty="0"/>
              <a:t>Explore it an android app</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fontScale="47500" lnSpcReduction="20000"/>
          </a:bodyPr>
          <a:lstStyle/>
          <a:p>
            <a:r>
              <a:rPr lang="en-US" dirty="0"/>
              <a:t>Team leader : vasa </a:t>
            </a:r>
            <a:r>
              <a:rPr lang="en-US" dirty="0" err="1"/>
              <a:t>vigneshwar</a:t>
            </a:r>
            <a:endParaRPr lang="en-US" dirty="0"/>
          </a:p>
          <a:p>
            <a:r>
              <a:rPr lang="en-US" dirty="0"/>
              <a:t>Roll no : 42390</a:t>
            </a:r>
          </a:p>
          <a:p>
            <a:r>
              <a:rPr lang="en-US" dirty="0"/>
              <a:t>Team mate : </a:t>
            </a:r>
            <a:r>
              <a:rPr lang="en-US" dirty="0" err="1"/>
              <a:t>karthik</a:t>
            </a:r>
            <a:r>
              <a:rPr lang="en-US" dirty="0"/>
              <a:t> </a:t>
            </a:r>
            <a:r>
              <a:rPr lang="en-US" dirty="0" err="1"/>
              <a:t>yadav</a:t>
            </a:r>
            <a:endParaRPr lang="en-US" dirty="0"/>
          </a:p>
          <a:p>
            <a:r>
              <a:rPr lang="en-US" dirty="0"/>
              <a:t>Roll no :423165</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Abstract </a:t>
            </a:r>
          </a:p>
        </p:txBody>
      </p:sp>
      <p:sp>
        <p:nvSpPr>
          <p:cNvPr id="5" name="Content Placeholder 4">
            <a:extLst>
              <a:ext uri="{FF2B5EF4-FFF2-40B4-BE49-F238E27FC236}">
                <a16:creationId xmlns:a16="http://schemas.microsoft.com/office/drawing/2014/main" id="{A68B2EF6-BEDA-FD84-1F34-6D5E32DC741F}"/>
              </a:ext>
            </a:extLst>
          </p:cNvPr>
          <p:cNvSpPr>
            <a:spLocks noGrp="1"/>
          </p:cNvSpPr>
          <p:nvPr>
            <p:ph idx="1"/>
          </p:nvPr>
        </p:nvSpPr>
        <p:spPr/>
        <p:txBody>
          <a:bodyPr/>
          <a:lstStyle/>
          <a:p>
            <a:r>
              <a:rPr lang="en-US" dirty="0"/>
              <a:t>The Traveling App is a comprehensive mobile application designed to enhance the travel experience by offering a user-friendly platform for discovering destinations, booking accommodations, and planning trips. With features such as personalized travel mode selection, curated lists of popular places and hotels, and user feedback integration, the app serves as an all-in-one solution for travelers. Users can explore detailed information about destinations, view images, read reviews, and access additional services to make informed decisions. The app aims to simplify travel planning, promote local tourism, and provide a convenient digital companion for travelers.</a:t>
            </a:r>
            <a:endParaRPr lang="en-IN" dirty="0"/>
          </a:p>
        </p:txBody>
      </p:sp>
      <p:sp>
        <p:nvSpPr>
          <p:cNvPr id="7" name="TextBox 6">
            <a:extLst>
              <a:ext uri="{FF2B5EF4-FFF2-40B4-BE49-F238E27FC236}">
                <a16:creationId xmlns:a16="http://schemas.microsoft.com/office/drawing/2014/main" id="{75C69DD2-6B61-3D21-DC76-2D2549F50569}"/>
              </a:ext>
            </a:extLst>
          </p:cNvPr>
          <p:cNvSpPr txBox="1"/>
          <p:nvPr/>
        </p:nvSpPr>
        <p:spPr>
          <a:xfrm>
            <a:off x="10545097" y="172064"/>
            <a:ext cx="914400" cy="369332"/>
          </a:xfrm>
          <a:prstGeom prst="rect">
            <a:avLst/>
          </a:prstGeom>
          <a:noFill/>
        </p:spPr>
        <p:txBody>
          <a:bodyPr wrap="square" rtlCol="0">
            <a:spAutoFit/>
          </a:bodyPr>
          <a:lstStyle/>
          <a:p>
            <a:r>
              <a:rPr lang="en-US" dirty="0"/>
              <a:t>ii</a:t>
            </a:r>
            <a:endParaRPr lang="en-IN" dirty="0"/>
          </a:p>
        </p:txBody>
      </p:sp>
    </p:spTree>
    <p:extLst>
      <p:ext uri="{BB962C8B-B14F-4D97-AF65-F5344CB8AC3E}">
        <p14:creationId xmlns:p14="http://schemas.microsoft.com/office/powerpoint/2010/main" val="265522590"/>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95A16-5882-D573-90BC-70E6670D935C}"/>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8E9B9C4C-657E-523A-A299-62F7B73EB0D3}"/>
              </a:ext>
            </a:extLst>
          </p:cNvPr>
          <p:cNvSpPr>
            <a:spLocks noGrp="1"/>
          </p:cNvSpPr>
          <p:nvPr>
            <p:ph idx="1"/>
          </p:nvPr>
        </p:nvSpPr>
        <p:spPr/>
        <p:txBody>
          <a:bodyPr>
            <a:normAutofit/>
          </a:bodyPr>
          <a:lstStyle/>
          <a:p>
            <a:r>
              <a:rPr lang="en-US" b="1" dirty="0"/>
              <a:t>1.0 Introduction</a:t>
            </a:r>
          </a:p>
          <a:p>
            <a:r>
              <a:rPr lang="en-US" b="1" dirty="0"/>
              <a:t>2.0 Tool used</a:t>
            </a:r>
          </a:p>
          <a:p>
            <a:r>
              <a:rPr lang="en-US" b="1" dirty="0"/>
              <a:t>3.0 Challenges and solutions</a:t>
            </a:r>
          </a:p>
          <a:p>
            <a:r>
              <a:rPr lang="en-US" b="1" dirty="0"/>
              <a:t>4.0 Flow chart</a:t>
            </a:r>
          </a:p>
          <a:p>
            <a:r>
              <a:rPr lang="en-US" b="1" dirty="0"/>
              <a:t>5.0 Working </a:t>
            </a:r>
          </a:p>
          <a:p>
            <a:r>
              <a:rPr lang="en-US" b="1" dirty="0"/>
              <a:t>6.0 Conclusion </a:t>
            </a:r>
          </a:p>
          <a:p>
            <a:r>
              <a:rPr lang="en-US" b="1" dirty="0"/>
              <a:t>7.0 References</a:t>
            </a:r>
            <a:endParaRPr lang="en-IN" b="1" dirty="0"/>
          </a:p>
        </p:txBody>
      </p:sp>
      <p:sp>
        <p:nvSpPr>
          <p:cNvPr id="5" name="TextBox 4">
            <a:extLst>
              <a:ext uri="{FF2B5EF4-FFF2-40B4-BE49-F238E27FC236}">
                <a16:creationId xmlns:a16="http://schemas.microsoft.com/office/drawing/2014/main" id="{AFEFA562-06B0-05CD-3CAE-95842BFF68F3}"/>
              </a:ext>
            </a:extLst>
          </p:cNvPr>
          <p:cNvSpPr txBox="1"/>
          <p:nvPr/>
        </p:nvSpPr>
        <p:spPr>
          <a:xfrm>
            <a:off x="10376965" y="101937"/>
            <a:ext cx="1238865" cy="369332"/>
          </a:xfrm>
          <a:prstGeom prst="rect">
            <a:avLst/>
          </a:prstGeom>
          <a:noFill/>
        </p:spPr>
        <p:txBody>
          <a:bodyPr wrap="square" rtlCol="0">
            <a:spAutoFit/>
          </a:bodyPr>
          <a:lstStyle/>
          <a:p>
            <a:r>
              <a:rPr lang="en-US" dirty="0"/>
              <a:t>iii</a:t>
            </a:r>
            <a:endParaRPr lang="en-IN" dirty="0"/>
          </a:p>
        </p:txBody>
      </p:sp>
    </p:spTree>
    <p:extLst>
      <p:ext uri="{BB962C8B-B14F-4D97-AF65-F5344CB8AC3E}">
        <p14:creationId xmlns:p14="http://schemas.microsoft.com/office/powerpoint/2010/main" val="110630924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AF44A-F8FC-9C77-3854-2495CE4AB069}"/>
              </a:ext>
            </a:extLst>
          </p:cNvPr>
          <p:cNvSpPr>
            <a:spLocks noGrp="1"/>
          </p:cNvSpPr>
          <p:nvPr>
            <p:ph type="title"/>
          </p:nvPr>
        </p:nvSpPr>
        <p:spPr/>
        <p:txBody>
          <a:bodyPr/>
          <a:lstStyle/>
          <a:p>
            <a:r>
              <a:rPr lang="en-US" b="1" dirty="0"/>
              <a:t>1.0 Introduction</a:t>
            </a:r>
            <a:endParaRPr lang="en-IN" dirty="0"/>
          </a:p>
        </p:txBody>
      </p:sp>
      <p:sp>
        <p:nvSpPr>
          <p:cNvPr id="3" name="Content Placeholder 2">
            <a:extLst>
              <a:ext uri="{FF2B5EF4-FFF2-40B4-BE49-F238E27FC236}">
                <a16:creationId xmlns:a16="http://schemas.microsoft.com/office/drawing/2014/main" id="{3E80AB61-3BA8-B67E-C60A-560BE4A5C4EB}"/>
              </a:ext>
            </a:extLst>
          </p:cNvPr>
          <p:cNvSpPr>
            <a:spLocks noGrp="1"/>
          </p:cNvSpPr>
          <p:nvPr>
            <p:ph idx="1"/>
          </p:nvPr>
        </p:nvSpPr>
        <p:spPr/>
        <p:txBody>
          <a:bodyPr/>
          <a:lstStyle/>
          <a:p>
            <a:pPr>
              <a:buNone/>
            </a:pPr>
            <a:r>
              <a:rPr lang="en-US" b="1" dirty="0"/>
              <a:t>App Motto</a:t>
            </a:r>
            <a:br>
              <a:rPr lang="en-US" dirty="0"/>
            </a:br>
            <a:r>
              <a:rPr lang="en-US" b="1" dirty="0"/>
              <a:t>"Plan Smart. Travel Easy."</a:t>
            </a:r>
            <a:endParaRPr lang="en-US" dirty="0"/>
          </a:p>
          <a:p>
            <a:pPr>
              <a:buNone/>
            </a:pPr>
            <a:r>
              <a:rPr lang="en-US" b="1" dirty="0"/>
              <a:t>Overview</a:t>
            </a:r>
            <a:br>
              <a:rPr lang="en-US" dirty="0"/>
            </a:br>
            <a:r>
              <a:rPr lang="en-US" dirty="0"/>
              <a:t>This app is designed to simplify your entire trip planning process with </a:t>
            </a:r>
            <a:r>
              <a:rPr lang="en-US" b="1" dirty="0"/>
              <a:t>less effort and more clarity</a:t>
            </a:r>
            <a:r>
              <a:rPr lang="en-US" dirty="0"/>
              <a:t>. Whether you're wondering </a:t>
            </a:r>
            <a:r>
              <a:rPr lang="en-US" i="1" dirty="0"/>
              <a:t>where to go</a:t>
            </a:r>
            <a:r>
              <a:rPr lang="en-US" dirty="0"/>
              <a:t> or </a:t>
            </a:r>
            <a:r>
              <a:rPr lang="en-US" i="1" dirty="0"/>
              <a:t>how to get there</a:t>
            </a:r>
            <a:r>
              <a:rPr lang="en-US" dirty="0"/>
              <a:t>, we’ve got it all covered.</a:t>
            </a:r>
          </a:p>
          <a:p>
            <a:r>
              <a:rPr lang="en-US" b="1" dirty="0"/>
              <a:t>Key Feature</a:t>
            </a:r>
            <a:br>
              <a:rPr lang="en-US" dirty="0"/>
            </a:br>
            <a:r>
              <a:rPr lang="en-US" dirty="0"/>
              <a:t>Plan your trip from start to finish — destinations, transportation, and feedback — all within </a:t>
            </a:r>
            <a:r>
              <a:rPr lang="en-US" b="1" dirty="0"/>
              <a:t>a single, seamless environment</a:t>
            </a:r>
            <a:r>
              <a:rPr lang="en-US" dirty="0"/>
              <a:t>.</a:t>
            </a:r>
          </a:p>
        </p:txBody>
      </p:sp>
    </p:spTree>
    <p:extLst>
      <p:ext uri="{BB962C8B-B14F-4D97-AF65-F5344CB8AC3E}">
        <p14:creationId xmlns:p14="http://schemas.microsoft.com/office/powerpoint/2010/main" val="354877045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EEF1-73CC-128B-58F8-B6FA347765DB}"/>
              </a:ext>
            </a:extLst>
          </p:cNvPr>
          <p:cNvSpPr>
            <a:spLocks noGrp="1"/>
          </p:cNvSpPr>
          <p:nvPr>
            <p:ph type="title"/>
          </p:nvPr>
        </p:nvSpPr>
        <p:spPr/>
        <p:txBody>
          <a:bodyPr/>
          <a:lstStyle/>
          <a:p>
            <a:r>
              <a:rPr lang="en-US" b="1" dirty="0"/>
              <a:t>2.0 Tool used</a:t>
            </a:r>
            <a:br>
              <a:rPr lang="en-US" b="1" dirty="0"/>
            </a:br>
            <a:endParaRPr lang="en-IN" dirty="0"/>
          </a:p>
        </p:txBody>
      </p:sp>
      <p:sp>
        <p:nvSpPr>
          <p:cNvPr id="3" name="Content Placeholder 2">
            <a:extLst>
              <a:ext uri="{FF2B5EF4-FFF2-40B4-BE49-F238E27FC236}">
                <a16:creationId xmlns:a16="http://schemas.microsoft.com/office/drawing/2014/main" id="{402B1C5A-9DE3-E078-5FB3-B1113D9F9F9C}"/>
              </a:ext>
            </a:extLst>
          </p:cNvPr>
          <p:cNvSpPr>
            <a:spLocks noGrp="1"/>
          </p:cNvSpPr>
          <p:nvPr>
            <p:ph idx="1"/>
          </p:nvPr>
        </p:nvSpPr>
        <p:spPr/>
        <p:txBody>
          <a:bodyPr/>
          <a:lstStyle/>
          <a:p>
            <a:r>
              <a:rPr lang="en-US" dirty="0"/>
              <a:t>2.1 The tool used for the back end is </a:t>
            </a:r>
          </a:p>
          <a:p>
            <a:pPr marL="384048" lvl="2" indent="0">
              <a:buNone/>
            </a:pPr>
            <a:r>
              <a:rPr lang="en-US" dirty="0"/>
              <a:t>	* NODE JS</a:t>
            </a:r>
          </a:p>
          <a:p>
            <a:pPr marL="384048" lvl="2" indent="0">
              <a:buNone/>
            </a:pPr>
            <a:r>
              <a:rPr lang="en-US" dirty="0"/>
              <a:t>2.1.1 The language is used for the Backend </a:t>
            </a:r>
            <a:r>
              <a:rPr lang="en-US" b="1" dirty="0"/>
              <a:t>POSTGRESQL</a:t>
            </a:r>
            <a:endParaRPr lang="en-IN" dirty="0"/>
          </a:p>
          <a:p>
            <a:pPr marL="384048" lvl="2" indent="0">
              <a:buNone/>
            </a:pPr>
            <a:r>
              <a:rPr lang="en-IN" dirty="0"/>
              <a:t>2.2The tools or environ men is used for the front end is </a:t>
            </a:r>
          </a:p>
          <a:p>
            <a:pPr marL="384048" lvl="2" indent="0">
              <a:buNone/>
            </a:pPr>
            <a:r>
              <a:rPr lang="en-IN" dirty="0"/>
              <a:t>	2.2.1 Android Studio</a:t>
            </a:r>
          </a:p>
          <a:p>
            <a:pPr marL="384048" lvl="2" indent="0">
              <a:buNone/>
            </a:pPr>
            <a:r>
              <a:rPr lang="en-IN" dirty="0"/>
              <a:t>2.3The languages are used for the frontend is </a:t>
            </a:r>
          </a:p>
          <a:p>
            <a:pPr marL="384048" lvl="2" indent="0">
              <a:buNone/>
            </a:pPr>
            <a:r>
              <a:rPr lang="en-IN" dirty="0"/>
              <a:t>	2.3.1 For the creations we used language </a:t>
            </a:r>
            <a:r>
              <a:rPr lang="en-IN" b="1" dirty="0"/>
              <a:t>XML</a:t>
            </a:r>
            <a:endParaRPr lang="en-IN" dirty="0"/>
          </a:p>
          <a:p>
            <a:pPr marL="384048" lvl="2" indent="0">
              <a:buNone/>
            </a:pPr>
            <a:r>
              <a:rPr lang="en-IN" dirty="0"/>
              <a:t>	2.3.2For the action  to be for those created elements  or linking of the one element to their action is </a:t>
            </a:r>
            <a:r>
              <a:rPr lang="en-IN" b="1" dirty="0"/>
              <a:t>JAVA</a:t>
            </a:r>
            <a:r>
              <a:rPr lang="en-IN" dirty="0"/>
              <a:t> is language is used </a:t>
            </a:r>
          </a:p>
          <a:p>
            <a:pPr marL="384048" lvl="2" indent="0">
              <a:buNone/>
            </a:pPr>
            <a:endParaRPr lang="en-IN" dirty="0"/>
          </a:p>
        </p:txBody>
      </p:sp>
    </p:spTree>
    <p:extLst>
      <p:ext uri="{BB962C8B-B14F-4D97-AF65-F5344CB8AC3E}">
        <p14:creationId xmlns:p14="http://schemas.microsoft.com/office/powerpoint/2010/main" val="3915422247"/>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9CBE4-ACE1-F23E-90FD-A3EE4F644A34}"/>
              </a:ext>
            </a:extLst>
          </p:cNvPr>
          <p:cNvSpPr>
            <a:spLocks noGrp="1"/>
          </p:cNvSpPr>
          <p:nvPr>
            <p:ph type="title"/>
          </p:nvPr>
        </p:nvSpPr>
        <p:spPr/>
        <p:txBody>
          <a:bodyPr/>
          <a:lstStyle/>
          <a:p>
            <a:r>
              <a:rPr lang="en-US" b="1" dirty="0"/>
              <a:t>3.0 Challenges and solutions</a:t>
            </a:r>
            <a:br>
              <a:rPr lang="en-US" b="1" dirty="0"/>
            </a:br>
            <a:endParaRPr lang="en-IN" dirty="0"/>
          </a:p>
        </p:txBody>
      </p:sp>
      <p:sp>
        <p:nvSpPr>
          <p:cNvPr id="3" name="Content Placeholder 2">
            <a:extLst>
              <a:ext uri="{FF2B5EF4-FFF2-40B4-BE49-F238E27FC236}">
                <a16:creationId xmlns:a16="http://schemas.microsoft.com/office/drawing/2014/main" id="{7469B781-5707-44C9-ED66-BF8796D05EBC}"/>
              </a:ext>
            </a:extLst>
          </p:cNvPr>
          <p:cNvSpPr>
            <a:spLocks noGrp="1"/>
          </p:cNvSpPr>
          <p:nvPr>
            <p:ph idx="1"/>
          </p:nvPr>
        </p:nvSpPr>
        <p:spPr/>
        <p:txBody>
          <a:bodyPr/>
          <a:lstStyle/>
          <a:p>
            <a:pPr>
              <a:buNone/>
            </a:pPr>
            <a:r>
              <a:rPr lang="en-US" b="1" dirty="0"/>
              <a:t>3.0.1 Main Challenge: Ticket Booking</a:t>
            </a:r>
            <a:br>
              <a:rPr lang="en-US" dirty="0"/>
            </a:br>
            <a:r>
              <a:rPr lang="en-US" dirty="0"/>
              <a:t>One of the primary challenges users face is booking tickets efficiently.</a:t>
            </a:r>
            <a:br>
              <a:rPr lang="en-US" dirty="0"/>
            </a:br>
            <a:r>
              <a:rPr lang="en-US" b="1" dirty="0"/>
              <a:t>Solution:</a:t>
            </a:r>
            <a:r>
              <a:rPr lang="en-US" dirty="0"/>
              <a:t> To address this, we’ve integrated all major ticket booking resources directly into the app, allowing users to compare and book transport options without leaving the platform.</a:t>
            </a:r>
          </a:p>
          <a:p>
            <a:r>
              <a:rPr lang="en-US" b="1" dirty="0"/>
              <a:t>3.0.2 Adventurous Experiences for Users</a:t>
            </a:r>
            <a:br>
              <a:rPr lang="en-US" dirty="0"/>
            </a:br>
            <a:r>
              <a:rPr lang="en-US" dirty="0"/>
              <a:t>Beyond planning, the app encourages users to explore new destinations and activities.</a:t>
            </a:r>
            <a:br>
              <a:rPr lang="en-US" dirty="0"/>
            </a:br>
            <a:r>
              <a:rPr lang="en-US" dirty="0"/>
              <a:t>We provide curated adventure experiences, personalized suggestions, and insider tips to make every trip more exciting and memorable.</a:t>
            </a:r>
          </a:p>
        </p:txBody>
      </p:sp>
    </p:spTree>
    <p:extLst>
      <p:ext uri="{BB962C8B-B14F-4D97-AF65-F5344CB8AC3E}">
        <p14:creationId xmlns:p14="http://schemas.microsoft.com/office/powerpoint/2010/main" val="1369127887"/>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3064-84D4-5D30-45F5-C2FD40BB2328}"/>
              </a:ext>
            </a:extLst>
          </p:cNvPr>
          <p:cNvSpPr>
            <a:spLocks noGrp="1"/>
          </p:cNvSpPr>
          <p:nvPr>
            <p:ph type="title"/>
          </p:nvPr>
        </p:nvSpPr>
        <p:spPr>
          <a:xfrm>
            <a:off x="1087448" y="286603"/>
            <a:ext cx="10058400" cy="702305"/>
          </a:xfrm>
        </p:spPr>
        <p:txBody>
          <a:bodyPr>
            <a:normAutofit fontScale="90000"/>
          </a:bodyPr>
          <a:lstStyle/>
          <a:p>
            <a:r>
              <a:rPr lang="en-US" dirty="0"/>
              <a:t>4.0 Flowchart</a:t>
            </a:r>
            <a:endParaRPr lang="en-IN" dirty="0"/>
          </a:p>
        </p:txBody>
      </p:sp>
      <p:pic>
        <p:nvPicPr>
          <p:cNvPr id="8" name="Content Placeholder 7">
            <a:extLst>
              <a:ext uri="{FF2B5EF4-FFF2-40B4-BE49-F238E27FC236}">
                <a16:creationId xmlns:a16="http://schemas.microsoft.com/office/drawing/2014/main" id="{626A2962-C7BE-536D-9771-B8F3BF16ADA7}"/>
              </a:ext>
            </a:extLst>
          </p:cNvPr>
          <p:cNvPicPr>
            <a:picLocks noGrp="1" noChangeAspect="1"/>
          </p:cNvPicPr>
          <p:nvPr>
            <p:ph idx="1"/>
          </p:nvPr>
        </p:nvPicPr>
        <p:blipFill>
          <a:blip r:embed="rId2"/>
          <a:stretch>
            <a:fillRect/>
          </a:stretch>
        </p:blipFill>
        <p:spPr>
          <a:xfrm>
            <a:off x="3323302" y="988908"/>
            <a:ext cx="4611329" cy="5869092"/>
          </a:xfrm>
        </p:spPr>
      </p:pic>
    </p:spTree>
    <p:extLst>
      <p:ext uri="{BB962C8B-B14F-4D97-AF65-F5344CB8AC3E}">
        <p14:creationId xmlns:p14="http://schemas.microsoft.com/office/powerpoint/2010/main" val="2678212698"/>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CDF9-F7EC-F20F-B27B-FF208A8A78C8}"/>
              </a:ext>
            </a:extLst>
          </p:cNvPr>
          <p:cNvSpPr>
            <a:spLocks noGrp="1"/>
          </p:cNvSpPr>
          <p:nvPr>
            <p:ph type="title"/>
          </p:nvPr>
        </p:nvSpPr>
        <p:spPr>
          <a:xfrm>
            <a:off x="1097280" y="286604"/>
            <a:ext cx="10058400" cy="912932"/>
          </a:xfrm>
        </p:spPr>
        <p:txBody>
          <a:bodyPr/>
          <a:lstStyle/>
          <a:p>
            <a:r>
              <a:rPr lang="en-US" dirty="0"/>
              <a:t>5.0 Working </a:t>
            </a:r>
            <a:endParaRPr lang="en-IN" dirty="0"/>
          </a:p>
        </p:txBody>
      </p:sp>
      <p:pic>
        <p:nvPicPr>
          <p:cNvPr id="5" name="Content Placeholder 4">
            <a:extLst>
              <a:ext uri="{FF2B5EF4-FFF2-40B4-BE49-F238E27FC236}">
                <a16:creationId xmlns:a16="http://schemas.microsoft.com/office/drawing/2014/main" id="{F7DAB79A-8E0C-FA8C-F18D-FF8B322CB84D}"/>
              </a:ext>
            </a:extLst>
          </p:cNvPr>
          <p:cNvPicPr>
            <a:picLocks noGrp="1" noChangeAspect="1"/>
          </p:cNvPicPr>
          <p:nvPr>
            <p:ph idx="1"/>
          </p:nvPr>
        </p:nvPicPr>
        <p:blipFill>
          <a:blip r:embed="rId2"/>
          <a:stretch>
            <a:fillRect/>
          </a:stretch>
        </p:blipFill>
        <p:spPr>
          <a:xfrm>
            <a:off x="9548419" y="1780047"/>
            <a:ext cx="2043847" cy="4560888"/>
          </a:xfrm>
        </p:spPr>
      </p:pic>
      <p:sp>
        <p:nvSpPr>
          <p:cNvPr id="6" name="Arrow: Down 5">
            <a:extLst>
              <a:ext uri="{FF2B5EF4-FFF2-40B4-BE49-F238E27FC236}">
                <a16:creationId xmlns:a16="http://schemas.microsoft.com/office/drawing/2014/main" id="{21CBA935-25B7-2C31-F842-E3FB31E8415D}"/>
              </a:ext>
            </a:extLst>
          </p:cNvPr>
          <p:cNvSpPr/>
          <p:nvPr/>
        </p:nvSpPr>
        <p:spPr>
          <a:xfrm rot="16200000">
            <a:off x="1228910" y="2054820"/>
            <a:ext cx="212624" cy="4758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B5C5387-2422-0F70-81DA-AA9AEBF23563}"/>
              </a:ext>
            </a:extLst>
          </p:cNvPr>
          <p:cNvSpPr txBox="1"/>
          <p:nvPr/>
        </p:nvSpPr>
        <p:spPr>
          <a:xfrm>
            <a:off x="1573163" y="2108095"/>
            <a:ext cx="7678991" cy="369332"/>
          </a:xfrm>
          <a:prstGeom prst="rect">
            <a:avLst/>
          </a:prstGeom>
          <a:noFill/>
        </p:spPr>
        <p:txBody>
          <a:bodyPr wrap="square" rtlCol="0">
            <a:spAutoFit/>
          </a:bodyPr>
          <a:lstStyle/>
          <a:p>
            <a:r>
              <a:rPr lang="en-US" dirty="0"/>
              <a:t>This  is the first interface experiences the user while using the app an explore it </a:t>
            </a:r>
            <a:endParaRPr lang="en-IN" dirty="0"/>
          </a:p>
        </p:txBody>
      </p:sp>
      <p:sp>
        <p:nvSpPr>
          <p:cNvPr id="8" name="Arrow: Down 7">
            <a:extLst>
              <a:ext uri="{FF2B5EF4-FFF2-40B4-BE49-F238E27FC236}">
                <a16:creationId xmlns:a16="http://schemas.microsoft.com/office/drawing/2014/main" id="{42797902-E828-6E37-2901-C991F0F9B4CC}"/>
              </a:ext>
            </a:extLst>
          </p:cNvPr>
          <p:cNvSpPr/>
          <p:nvPr/>
        </p:nvSpPr>
        <p:spPr>
          <a:xfrm rot="16200000">
            <a:off x="1228909" y="2871838"/>
            <a:ext cx="212626" cy="4758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B6CA455-8C45-F351-545A-E4999555DE66}"/>
              </a:ext>
            </a:extLst>
          </p:cNvPr>
          <p:cNvSpPr txBox="1"/>
          <p:nvPr/>
        </p:nvSpPr>
        <p:spPr>
          <a:xfrm>
            <a:off x="1573163" y="2925113"/>
            <a:ext cx="7325031" cy="646331"/>
          </a:xfrm>
          <a:prstGeom prst="rect">
            <a:avLst/>
          </a:prstGeom>
          <a:noFill/>
        </p:spPr>
        <p:txBody>
          <a:bodyPr wrap="square" rtlCol="0">
            <a:spAutoFit/>
          </a:bodyPr>
          <a:lstStyle/>
          <a:p>
            <a:r>
              <a:rPr lang="en-US" dirty="0"/>
              <a:t>If the use already have an account in the explore it app then the user can simply click on the </a:t>
            </a:r>
            <a:r>
              <a:rPr lang="en-US" b="1" dirty="0"/>
              <a:t>login button </a:t>
            </a:r>
            <a:r>
              <a:rPr lang="en-US" dirty="0"/>
              <a:t>then</a:t>
            </a:r>
            <a:r>
              <a:rPr lang="en-US" b="1" dirty="0"/>
              <a:t> </a:t>
            </a:r>
            <a:r>
              <a:rPr lang="en-US" dirty="0"/>
              <a:t>directed</a:t>
            </a:r>
            <a:r>
              <a:rPr lang="en-US" b="1" dirty="0"/>
              <a:t> </a:t>
            </a:r>
            <a:r>
              <a:rPr lang="en-US" dirty="0"/>
              <a:t>to</a:t>
            </a:r>
            <a:r>
              <a:rPr lang="en-US" b="1" dirty="0"/>
              <a:t> </a:t>
            </a:r>
            <a:r>
              <a:rPr lang="en-US" dirty="0"/>
              <a:t>the</a:t>
            </a:r>
            <a:r>
              <a:rPr lang="en-US" b="1" dirty="0"/>
              <a:t> </a:t>
            </a:r>
            <a:r>
              <a:rPr lang="en-US" dirty="0"/>
              <a:t>next</a:t>
            </a:r>
            <a:r>
              <a:rPr lang="en-US" b="1" dirty="0"/>
              <a:t> </a:t>
            </a:r>
            <a:r>
              <a:rPr lang="en-US" dirty="0"/>
              <a:t>page</a:t>
            </a:r>
            <a:r>
              <a:rPr lang="en-US" b="1" dirty="0"/>
              <a:t> </a:t>
            </a:r>
            <a:endParaRPr lang="en-IN" dirty="0"/>
          </a:p>
        </p:txBody>
      </p:sp>
      <p:sp>
        <p:nvSpPr>
          <p:cNvPr id="11" name="Arrow: Down 10">
            <a:extLst>
              <a:ext uri="{FF2B5EF4-FFF2-40B4-BE49-F238E27FC236}">
                <a16:creationId xmlns:a16="http://schemas.microsoft.com/office/drawing/2014/main" id="{F31F2B11-24EF-26F4-EF98-891F7973B551}"/>
              </a:ext>
            </a:extLst>
          </p:cNvPr>
          <p:cNvSpPr/>
          <p:nvPr/>
        </p:nvSpPr>
        <p:spPr>
          <a:xfrm rot="16200000">
            <a:off x="1228908" y="3822549"/>
            <a:ext cx="212628" cy="4758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3DD912CB-F626-83B6-C523-2FF432AB1013}"/>
              </a:ext>
            </a:extLst>
          </p:cNvPr>
          <p:cNvSpPr txBox="1"/>
          <p:nvPr/>
        </p:nvSpPr>
        <p:spPr>
          <a:xfrm>
            <a:off x="1573163" y="3888658"/>
            <a:ext cx="7108721" cy="923330"/>
          </a:xfrm>
          <a:prstGeom prst="rect">
            <a:avLst/>
          </a:prstGeom>
          <a:noFill/>
        </p:spPr>
        <p:txBody>
          <a:bodyPr wrap="square" rtlCol="0">
            <a:spAutoFit/>
          </a:bodyPr>
          <a:lstStyle/>
          <a:p>
            <a:r>
              <a:rPr lang="en-US" dirty="0"/>
              <a:t>If the user does not have any account in the explore it app  then the user can  press (or)  click the button </a:t>
            </a:r>
            <a:r>
              <a:rPr lang="en-US" b="1" dirty="0"/>
              <a:t>Sign Up </a:t>
            </a:r>
            <a:r>
              <a:rPr lang="en-US" dirty="0"/>
              <a:t> button then the user can directed to the  next page for the sign up </a:t>
            </a:r>
            <a:endParaRPr lang="en-IN" dirty="0"/>
          </a:p>
        </p:txBody>
      </p:sp>
    </p:spTree>
    <p:extLst>
      <p:ext uri="{BB962C8B-B14F-4D97-AF65-F5344CB8AC3E}">
        <p14:creationId xmlns:p14="http://schemas.microsoft.com/office/powerpoint/2010/main" val="2211624592"/>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useBgFill="1">
        <p:nvSpPr>
          <p:cNvPr id="2" name="Title 1">
            <a:extLst>
              <a:ext uri="{FF2B5EF4-FFF2-40B4-BE49-F238E27FC236}">
                <a16:creationId xmlns:a16="http://schemas.microsoft.com/office/drawing/2014/main" id="{1B983E20-F35A-3CBE-3B98-878D45D0E79F}"/>
              </a:ext>
            </a:extLst>
          </p:cNvPr>
          <p:cNvSpPr>
            <a:spLocks noGrp="1"/>
          </p:cNvSpPr>
          <p:nvPr>
            <p:ph type="title"/>
          </p:nvPr>
        </p:nvSpPr>
        <p:spPr>
          <a:xfrm flipV="1">
            <a:off x="1097280" y="-727587"/>
            <a:ext cx="10058400" cy="14748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48ECD011-DAA6-47D3-5387-FAD2BE172641}"/>
              </a:ext>
            </a:extLst>
          </p:cNvPr>
          <p:cNvSpPr>
            <a:spLocks noGrp="1"/>
          </p:cNvSpPr>
          <p:nvPr>
            <p:ph idx="1"/>
          </p:nvPr>
        </p:nvSpPr>
        <p:spPr>
          <a:xfrm>
            <a:off x="1097280" y="286603"/>
            <a:ext cx="10058400" cy="5582489"/>
          </a:xfrm>
        </p:spPr>
        <p:txBody>
          <a:bodyPr/>
          <a:lstStyle/>
          <a:p>
            <a:endParaRPr lang="en-US" dirty="0"/>
          </a:p>
          <a:p>
            <a:endParaRPr lang="en-IN" dirty="0"/>
          </a:p>
        </p:txBody>
      </p:sp>
      <p:pic>
        <p:nvPicPr>
          <p:cNvPr id="7" name="Picture 6">
            <a:extLst>
              <a:ext uri="{FF2B5EF4-FFF2-40B4-BE49-F238E27FC236}">
                <a16:creationId xmlns:a16="http://schemas.microsoft.com/office/drawing/2014/main" id="{DFF693A6-5DCD-71D3-3E33-D8FB2865E0C2}"/>
              </a:ext>
            </a:extLst>
          </p:cNvPr>
          <p:cNvPicPr>
            <a:picLocks noChangeAspect="1"/>
          </p:cNvPicPr>
          <p:nvPr/>
        </p:nvPicPr>
        <p:blipFill>
          <a:blip r:embed="rId2"/>
          <a:stretch>
            <a:fillRect/>
          </a:stretch>
        </p:blipFill>
        <p:spPr>
          <a:xfrm>
            <a:off x="9360310" y="764833"/>
            <a:ext cx="2619472" cy="5582489"/>
          </a:xfrm>
          <a:prstGeom prst="rect">
            <a:avLst/>
          </a:prstGeom>
        </p:spPr>
      </p:pic>
      <p:sp>
        <p:nvSpPr>
          <p:cNvPr id="9" name="Arrow: Down 8">
            <a:extLst>
              <a:ext uri="{FF2B5EF4-FFF2-40B4-BE49-F238E27FC236}">
                <a16:creationId xmlns:a16="http://schemas.microsoft.com/office/drawing/2014/main" id="{D2792A22-0AF6-C145-B887-BC7EFDC02F7A}"/>
              </a:ext>
            </a:extLst>
          </p:cNvPr>
          <p:cNvSpPr/>
          <p:nvPr/>
        </p:nvSpPr>
        <p:spPr>
          <a:xfrm rot="16200000">
            <a:off x="737419" y="366626"/>
            <a:ext cx="298901" cy="79641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D02AA55-2FD4-71E9-C0EE-98EB82DC312B}"/>
              </a:ext>
            </a:extLst>
          </p:cNvPr>
          <p:cNvSpPr txBox="1"/>
          <p:nvPr/>
        </p:nvSpPr>
        <p:spPr>
          <a:xfrm>
            <a:off x="1361766" y="527243"/>
            <a:ext cx="6209071" cy="923330"/>
          </a:xfrm>
          <a:prstGeom prst="rect">
            <a:avLst/>
          </a:prstGeom>
          <a:noFill/>
        </p:spPr>
        <p:txBody>
          <a:bodyPr wrap="square" rtlCol="0">
            <a:spAutoFit/>
          </a:bodyPr>
          <a:lstStyle/>
          <a:p>
            <a:r>
              <a:rPr lang="en-US" dirty="0"/>
              <a:t>If the user don’t have an account the user wants to create  an account in the explore it the interface will be display on the screen  </a:t>
            </a:r>
            <a:endParaRPr lang="en-IN" dirty="0"/>
          </a:p>
        </p:txBody>
      </p:sp>
      <p:sp>
        <p:nvSpPr>
          <p:cNvPr id="11" name="Arrow: Down 10">
            <a:extLst>
              <a:ext uri="{FF2B5EF4-FFF2-40B4-BE49-F238E27FC236}">
                <a16:creationId xmlns:a16="http://schemas.microsoft.com/office/drawing/2014/main" id="{349DAEA4-1B69-7B9E-C1B7-3DC61F8DAAF6}"/>
              </a:ext>
            </a:extLst>
          </p:cNvPr>
          <p:cNvSpPr/>
          <p:nvPr/>
        </p:nvSpPr>
        <p:spPr>
          <a:xfrm rot="16200000">
            <a:off x="737419" y="1499094"/>
            <a:ext cx="298901" cy="7964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683F101-EAB2-2C5F-BCC6-36513B527979}"/>
              </a:ext>
            </a:extLst>
          </p:cNvPr>
          <p:cNvSpPr txBox="1"/>
          <p:nvPr/>
        </p:nvSpPr>
        <p:spPr>
          <a:xfrm>
            <a:off x="1361766" y="1747851"/>
            <a:ext cx="5973097" cy="646331"/>
          </a:xfrm>
          <a:prstGeom prst="rect">
            <a:avLst/>
          </a:prstGeom>
          <a:noFill/>
        </p:spPr>
        <p:txBody>
          <a:bodyPr wrap="square" rtlCol="0">
            <a:spAutoFit/>
          </a:bodyPr>
          <a:lstStyle/>
          <a:p>
            <a:r>
              <a:rPr lang="en-US" dirty="0"/>
              <a:t>If the user want to create an account then user enter the details like they display.</a:t>
            </a:r>
            <a:endParaRPr lang="en-IN" dirty="0"/>
          </a:p>
        </p:txBody>
      </p:sp>
      <p:sp>
        <p:nvSpPr>
          <p:cNvPr id="15" name="Arrow: Down 14">
            <a:extLst>
              <a:ext uri="{FF2B5EF4-FFF2-40B4-BE49-F238E27FC236}">
                <a16:creationId xmlns:a16="http://schemas.microsoft.com/office/drawing/2014/main" id="{1D70A8A4-325B-B706-7928-3EF501484373}"/>
              </a:ext>
            </a:extLst>
          </p:cNvPr>
          <p:cNvSpPr/>
          <p:nvPr/>
        </p:nvSpPr>
        <p:spPr>
          <a:xfrm rot="16200000">
            <a:off x="737418" y="2145425"/>
            <a:ext cx="298901" cy="7964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A90BF34B-5927-33E0-04A5-C345731EBCCF}"/>
              </a:ext>
            </a:extLst>
          </p:cNvPr>
          <p:cNvSpPr txBox="1"/>
          <p:nvPr/>
        </p:nvSpPr>
        <p:spPr>
          <a:xfrm>
            <a:off x="1361766" y="2394182"/>
            <a:ext cx="6376221" cy="923330"/>
          </a:xfrm>
          <a:prstGeom prst="rect">
            <a:avLst/>
          </a:prstGeom>
          <a:noFill/>
        </p:spPr>
        <p:txBody>
          <a:bodyPr wrap="square" rtlCol="0">
            <a:spAutoFit/>
          </a:bodyPr>
          <a:lstStyle/>
          <a:p>
            <a:r>
              <a:rPr lang="en-US" dirty="0"/>
              <a:t>The details entered by the user the details are stores in the database. In database we created a table with the columns </a:t>
            </a:r>
            <a:r>
              <a:rPr lang="en-US" dirty="0" err="1"/>
              <a:t>firstname,Lastname,EmailAddress,Password,PhoneNummber</a:t>
            </a:r>
            <a:r>
              <a:rPr lang="en-US" dirty="0"/>
              <a:t>.</a:t>
            </a:r>
            <a:endParaRPr lang="en-IN" dirty="0"/>
          </a:p>
        </p:txBody>
      </p:sp>
      <p:sp>
        <p:nvSpPr>
          <p:cNvPr id="17" name="Arrow: Down 16">
            <a:extLst>
              <a:ext uri="{FF2B5EF4-FFF2-40B4-BE49-F238E27FC236}">
                <a16:creationId xmlns:a16="http://schemas.microsoft.com/office/drawing/2014/main" id="{5FB10E1C-D790-D69C-57CE-E76EEAF54F91}"/>
              </a:ext>
            </a:extLst>
          </p:cNvPr>
          <p:cNvSpPr/>
          <p:nvPr/>
        </p:nvSpPr>
        <p:spPr>
          <a:xfrm rot="16200000">
            <a:off x="737419" y="3277894"/>
            <a:ext cx="298900" cy="7964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3FF6D208-463F-604D-265B-8FD7A27EB95D}"/>
              </a:ext>
            </a:extLst>
          </p:cNvPr>
          <p:cNvSpPr txBox="1"/>
          <p:nvPr/>
        </p:nvSpPr>
        <p:spPr>
          <a:xfrm>
            <a:off x="1568244" y="3429000"/>
            <a:ext cx="5373329" cy="646331"/>
          </a:xfrm>
          <a:prstGeom prst="rect">
            <a:avLst/>
          </a:prstGeom>
          <a:noFill/>
        </p:spPr>
        <p:txBody>
          <a:bodyPr wrap="square" rtlCol="0">
            <a:spAutoFit/>
          </a:bodyPr>
          <a:lstStyle/>
          <a:p>
            <a:r>
              <a:rPr lang="en-US" dirty="0"/>
              <a:t>After entering of all details in the give interface then click the </a:t>
            </a:r>
            <a:r>
              <a:rPr lang="en-US" b="1" dirty="0"/>
              <a:t>Sign Up </a:t>
            </a:r>
            <a:r>
              <a:rPr lang="en-US" dirty="0"/>
              <a:t> button.</a:t>
            </a:r>
            <a:endParaRPr lang="en-IN" dirty="0"/>
          </a:p>
        </p:txBody>
      </p:sp>
      <p:sp>
        <p:nvSpPr>
          <p:cNvPr id="20" name="TextBox 19">
            <a:extLst>
              <a:ext uri="{FF2B5EF4-FFF2-40B4-BE49-F238E27FC236}">
                <a16:creationId xmlns:a16="http://schemas.microsoft.com/office/drawing/2014/main" id="{D7A5241E-C04E-9031-151D-1DAB8D109529}"/>
              </a:ext>
            </a:extLst>
          </p:cNvPr>
          <p:cNvSpPr txBox="1"/>
          <p:nvPr/>
        </p:nvSpPr>
        <p:spPr>
          <a:xfrm>
            <a:off x="1568243" y="4184218"/>
            <a:ext cx="5874775" cy="369332"/>
          </a:xfrm>
          <a:prstGeom prst="rect">
            <a:avLst/>
          </a:prstGeom>
          <a:noFill/>
        </p:spPr>
        <p:txBody>
          <a:bodyPr wrap="square" rtlCol="0">
            <a:spAutoFit/>
          </a:bodyPr>
          <a:lstStyle/>
          <a:p>
            <a:r>
              <a:rPr lang="en-US" dirty="0"/>
              <a:t>As we see the sample of the database table :</a:t>
            </a:r>
            <a:endParaRPr lang="en-IN" dirty="0"/>
          </a:p>
        </p:txBody>
      </p:sp>
      <p:graphicFrame>
        <p:nvGraphicFramePr>
          <p:cNvPr id="21" name="Table 20">
            <a:extLst>
              <a:ext uri="{FF2B5EF4-FFF2-40B4-BE49-F238E27FC236}">
                <a16:creationId xmlns:a16="http://schemas.microsoft.com/office/drawing/2014/main" id="{8F48C402-A8DF-652E-056F-126B3B6D6395}"/>
              </a:ext>
            </a:extLst>
          </p:cNvPr>
          <p:cNvGraphicFramePr>
            <a:graphicFrameLocks noGrp="1"/>
          </p:cNvGraphicFramePr>
          <p:nvPr>
            <p:extLst>
              <p:ext uri="{D42A27DB-BD31-4B8C-83A1-F6EECF244321}">
                <p14:modId xmlns:p14="http://schemas.microsoft.com/office/powerpoint/2010/main" val="1572517645"/>
              </p:ext>
            </p:extLst>
          </p:nvPr>
        </p:nvGraphicFramePr>
        <p:xfrm>
          <a:off x="886868" y="4126650"/>
          <a:ext cx="7964130" cy="2596881"/>
        </p:xfrm>
        <a:graphic>
          <a:graphicData uri="http://schemas.openxmlformats.org/drawingml/2006/table">
            <a:tbl>
              <a:tblPr firstRow="1" bandRow="1">
                <a:tableStyleId>{5C22544A-7EE6-4342-B048-85BDC9FD1C3A}</a:tableStyleId>
              </a:tblPr>
              <a:tblGrid>
                <a:gridCol w="1592826">
                  <a:extLst>
                    <a:ext uri="{9D8B030D-6E8A-4147-A177-3AD203B41FA5}">
                      <a16:colId xmlns:a16="http://schemas.microsoft.com/office/drawing/2014/main" val="807852956"/>
                    </a:ext>
                  </a:extLst>
                </a:gridCol>
                <a:gridCol w="1592826">
                  <a:extLst>
                    <a:ext uri="{9D8B030D-6E8A-4147-A177-3AD203B41FA5}">
                      <a16:colId xmlns:a16="http://schemas.microsoft.com/office/drawing/2014/main" val="2654675572"/>
                    </a:ext>
                  </a:extLst>
                </a:gridCol>
                <a:gridCol w="1592826">
                  <a:extLst>
                    <a:ext uri="{9D8B030D-6E8A-4147-A177-3AD203B41FA5}">
                      <a16:colId xmlns:a16="http://schemas.microsoft.com/office/drawing/2014/main" val="1527456665"/>
                    </a:ext>
                  </a:extLst>
                </a:gridCol>
                <a:gridCol w="1592826">
                  <a:extLst>
                    <a:ext uri="{9D8B030D-6E8A-4147-A177-3AD203B41FA5}">
                      <a16:colId xmlns:a16="http://schemas.microsoft.com/office/drawing/2014/main" val="3670876302"/>
                    </a:ext>
                  </a:extLst>
                </a:gridCol>
                <a:gridCol w="1592826">
                  <a:extLst>
                    <a:ext uri="{9D8B030D-6E8A-4147-A177-3AD203B41FA5}">
                      <a16:colId xmlns:a16="http://schemas.microsoft.com/office/drawing/2014/main" val="3624326798"/>
                    </a:ext>
                  </a:extLst>
                </a:gridCol>
              </a:tblGrid>
              <a:tr h="678396">
                <a:tc>
                  <a:txBody>
                    <a:bodyPr/>
                    <a:lstStyle/>
                    <a:p>
                      <a:r>
                        <a:rPr lang="en-US" dirty="0" err="1"/>
                        <a:t>firstname</a:t>
                      </a:r>
                      <a:endParaRPr lang="en-IN" dirty="0"/>
                    </a:p>
                  </a:txBody>
                  <a:tcPr/>
                </a:tc>
                <a:tc>
                  <a:txBody>
                    <a:bodyPr/>
                    <a:lstStyle/>
                    <a:p>
                      <a:r>
                        <a:rPr lang="en-US" dirty="0"/>
                        <a:t>Lastname</a:t>
                      </a:r>
                      <a:endParaRPr lang="en-IN" dirty="0"/>
                    </a:p>
                  </a:txBody>
                  <a:tcPr/>
                </a:tc>
                <a:tc>
                  <a:txBody>
                    <a:bodyPr/>
                    <a:lstStyle/>
                    <a:p>
                      <a:r>
                        <a:rPr lang="en-US" dirty="0" err="1"/>
                        <a:t>EmailAddress</a:t>
                      </a:r>
                      <a:endParaRPr lang="en-IN" dirty="0"/>
                    </a:p>
                  </a:txBody>
                  <a:tcPr/>
                </a:tc>
                <a:tc>
                  <a:txBody>
                    <a:bodyPr/>
                    <a:lstStyle/>
                    <a:p>
                      <a:r>
                        <a:rPr lang="en-US" dirty="0"/>
                        <a:t>Password</a:t>
                      </a:r>
                      <a:endParaRPr lang="en-IN" dirty="0"/>
                    </a:p>
                  </a:txBody>
                  <a:tcPr/>
                </a:tc>
                <a:tc>
                  <a:txBody>
                    <a:bodyPr/>
                    <a:lstStyle/>
                    <a:p>
                      <a:r>
                        <a:rPr lang="en-US" dirty="0" err="1"/>
                        <a:t>PhoneNumber</a:t>
                      </a:r>
                      <a:endParaRPr lang="en-IN" dirty="0"/>
                    </a:p>
                  </a:txBody>
                  <a:tcPr/>
                </a:tc>
                <a:extLst>
                  <a:ext uri="{0D108BD9-81ED-4DB2-BD59-A6C34878D82A}">
                    <a16:rowId xmlns:a16="http://schemas.microsoft.com/office/drawing/2014/main" val="579237248"/>
                  </a:ext>
                </a:extLst>
              </a:tr>
              <a:tr h="639495">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745955032"/>
                  </a:ext>
                </a:extLst>
              </a:tr>
              <a:tr h="639495">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13487283"/>
                  </a:ext>
                </a:extLst>
              </a:tr>
              <a:tr h="639495">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506243377"/>
                  </a:ext>
                </a:extLst>
              </a:tr>
            </a:tbl>
          </a:graphicData>
        </a:graphic>
      </p:graphicFrame>
    </p:spTree>
    <p:extLst>
      <p:ext uri="{BB962C8B-B14F-4D97-AF65-F5344CB8AC3E}">
        <p14:creationId xmlns:p14="http://schemas.microsoft.com/office/powerpoint/2010/main" val="3172866689"/>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25128-2284-ACA6-433A-BDDFAD72D11C}"/>
              </a:ext>
            </a:extLst>
          </p:cNvPr>
          <p:cNvSpPr>
            <a:spLocks noGrp="1"/>
          </p:cNvSpPr>
          <p:nvPr>
            <p:ph type="title"/>
          </p:nvPr>
        </p:nvSpPr>
        <p:spPr>
          <a:xfrm>
            <a:off x="0" y="152400"/>
            <a:ext cx="12120880" cy="6108064"/>
          </a:xfrm>
          <a:pattFill prst="pct5">
            <a:fgClr>
              <a:schemeClr val="accent1"/>
            </a:fgClr>
            <a:bgClr>
              <a:schemeClr val="bg1"/>
            </a:bgClr>
          </a:pattFill>
        </p:spPr>
        <p:txBody>
          <a:bodyPr>
            <a:normAutofit/>
          </a:bodyPr>
          <a:lstStyle/>
          <a:p>
            <a:endParaRPr lang="en-IN" dirty="0"/>
          </a:p>
        </p:txBody>
      </p:sp>
      <p:pic>
        <p:nvPicPr>
          <p:cNvPr id="5" name="Content Placeholder 4">
            <a:extLst>
              <a:ext uri="{FF2B5EF4-FFF2-40B4-BE49-F238E27FC236}">
                <a16:creationId xmlns:a16="http://schemas.microsoft.com/office/drawing/2014/main" id="{70222D56-5CAD-66C9-1DA8-AFC96941F865}"/>
              </a:ext>
            </a:extLst>
          </p:cNvPr>
          <p:cNvPicPr>
            <a:picLocks noGrp="1" noChangeAspect="1"/>
          </p:cNvPicPr>
          <p:nvPr>
            <p:ph idx="1"/>
          </p:nvPr>
        </p:nvPicPr>
        <p:blipFill>
          <a:blip r:embed="rId2"/>
          <a:stretch>
            <a:fillRect/>
          </a:stretch>
        </p:blipFill>
        <p:spPr>
          <a:xfrm>
            <a:off x="9344864" y="678814"/>
            <a:ext cx="2503397" cy="5581650"/>
          </a:xfrm>
          <a:prstGeom prst="rect">
            <a:avLst/>
          </a:prstGeom>
          <a:ln>
            <a:noFill/>
          </a:ln>
          <a:effectLst>
            <a:outerShdw blurRad="292100" dist="139700" dir="2700000" algn="tl" rotWithShape="0">
              <a:srgbClr val="333333">
                <a:alpha val="65000"/>
              </a:srgbClr>
            </a:outerShdw>
          </a:effectLst>
        </p:spPr>
      </p:pic>
      <p:sp>
        <p:nvSpPr>
          <p:cNvPr id="6" name="Arrow: Down 5">
            <a:extLst>
              <a:ext uri="{FF2B5EF4-FFF2-40B4-BE49-F238E27FC236}">
                <a16:creationId xmlns:a16="http://schemas.microsoft.com/office/drawing/2014/main" id="{E194D30D-98A3-0918-27E1-559CEC868559}"/>
              </a:ext>
            </a:extLst>
          </p:cNvPr>
          <p:cNvSpPr/>
          <p:nvPr/>
        </p:nvSpPr>
        <p:spPr>
          <a:xfrm rot="16200000">
            <a:off x="1097280" y="394334"/>
            <a:ext cx="213360" cy="782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E08DE19-63D9-7E0E-06F1-97B902CE81C7}"/>
              </a:ext>
            </a:extLst>
          </p:cNvPr>
          <p:cNvSpPr txBox="1"/>
          <p:nvPr/>
        </p:nvSpPr>
        <p:spPr>
          <a:xfrm>
            <a:off x="1695552" y="678814"/>
            <a:ext cx="6146800" cy="923330"/>
          </a:xfrm>
          <a:prstGeom prst="rect">
            <a:avLst/>
          </a:prstGeom>
          <a:noFill/>
        </p:spPr>
        <p:txBody>
          <a:bodyPr wrap="square" rtlCol="0">
            <a:spAutoFit/>
          </a:bodyPr>
          <a:lstStyle/>
          <a:p>
            <a:r>
              <a:rPr lang="en-US" dirty="0"/>
              <a:t>If the user want to </a:t>
            </a:r>
            <a:r>
              <a:rPr lang="en-US" b="1" dirty="0"/>
              <a:t>log in </a:t>
            </a:r>
            <a:r>
              <a:rPr lang="en-US" dirty="0"/>
              <a:t> then the  user can simple  enter the already </a:t>
            </a:r>
            <a:r>
              <a:rPr lang="en-US" dirty="0" err="1"/>
              <a:t>registerd</a:t>
            </a:r>
            <a:r>
              <a:rPr lang="en-US" dirty="0"/>
              <a:t> </a:t>
            </a:r>
            <a:r>
              <a:rPr lang="en-US" b="1" dirty="0"/>
              <a:t> email Id  </a:t>
            </a:r>
            <a:r>
              <a:rPr lang="en-US" dirty="0"/>
              <a:t>and</a:t>
            </a:r>
            <a:r>
              <a:rPr lang="en-US" b="1" dirty="0"/>
              <a:t> Password </a:t>
            </a:r>
            <a:r>
              <a:rPr lang="en-US" dirty="0"/>
              <a:t> is at  the time of  registration the user used one.</a:t>
            </a:r>
            <a:endParaRPr lang="en-IN" dirty="0"/>
          </a:p>
        </p:txBody>
      </p:sp>
      <p:sp>
        <p:nvSpPr>
          <p:cNvPr id="9" name="Arrow: Down 8">
            <a:extLst>
              <a:ext uri="{FF2B5EF4-FFF2-40B4-BE49-F238E27FC236}">
                <a16:creationId xmlns:a16="http://schemas.microsoft.com/office/drawing/2014/main" id="{A3BD001A-79CE-52BE-43CC-1CAB4A7473E4}"/>
              </a:ext>
            </a:extLst>
          </p:cNvPr>
          <p:cNvSpPr/>
          <p:nvPr/>
        </p:nvSpPr>
        <p:spPr>
          <a:xfrm rot="16200000">
            <a:off x="1097279" y="1501869"/>
            <a:ext cx="213361" cy="812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A8EA1D2-5552-CE0F-C014-913B3286E95D}"/>
              </a:ext>
            </a:extLst>
          </p:cNvPr>
          <p:cNvSpPr txBox="1"/>
          <p:nvPr/>
        </p:nvSpPr>
        <p:spPr>
          <a:xfrm>
            <a:off x="1695552" y="1723603"/>
            <a:ext cx="5716168" cy="1200329"/>
          </a:xfrm>
          <a:prstGeom prst="rect">
            <a:avLst/>
          </a:prstGeom>
          <a:noFill/>
        </p:spPr>
        <p:txBody>
          <a:bodyPr wrap="square" rtlCol="0">
            <a:spAutoFit/>
          </a:bodyPr>
          <a:lstStyle/>
          <a:p>
            <a:r>
              <a:rPr lang="en-US" dirty="0"/>
              <a:t>The  given data is matched with registered data then only the user can access to go through the further. If any case of the data could not matched the data  it will  through an error and suffers to move to further</a:t>
            </a:r>
            <a:endParaRPr lang="en-IN" dirty="0"/>
          </a:p>
        </p:txBody>
      </p:sp>
      <p:sp>
        <p:nvSpPr>
          <p:cNvPr id="11" name="Arrow: Down 10">
            <a:extLst>
              <a:ext uri="{FF2B5EF4-FFF2-40B4-BE49-F238E27FC236}">
                <a16:creationId xmlns:a16="http://schemas.microsoft.com/office/drawing/2014/main" id="{F46DA1CD-BDD9-16B8-4AD7-5A14381FD0BE}"/>
              </a:ext>
            </a:extLst>
          </p:cNvPr>
          <p:cNvSpPr/>
          <p:nvPr/>
        </p:nvSpPr>
        <p:spPr>
          <a:xfrm rot="16200000">
            <a:off x="1035291" y="2941876"/>
            <a:ext cx="304318" cy="7797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B49A9797-405B-75BA-5AA7-D321C5A3B4E0}"/>
              </a:ext>
            </a:extLst>
          </p:cNvPr>
          <p:cNvSpPr txBox="1"/>
          <p:nvPr/>
        </p:nvSpPr>
        <p:spPr>
          <a:xfrm>
            <a:off x="1695552" y="3203257"/>
            <a:ext cx="5568848" cy="646331"/>
          </a:xfrm>
          <a:prstGeom prst="rect">
            <a:avLst/>
          </a:prstGeom>
          <a:noFill/>
        </p:spPr>
        <p:txBody>
          <a:bodyPr wrap="square" rtlCol="0">
            <a:spAutoFit/>
          </a:bodyPr>
          <a:lstStyle/>
          <a:p>
            <a:r>
              <a:rPr lang="en-US" dirty="0"/>
              <a:t>There is a chance of forgetting the password  there is an option to change the password </a:t>
            </a:r>
            <a:endParaRPr lang="en-IN" dirty="0"/>
          </a:p>
        </p:txBody>
      </p:sp>
    </p:spTree>
    <p:extLst>
      <p:ext uri="{BB962C8B-B14F-4D97-AF65-F5344CB8AC3E}">
        <p14:creationId xmlns:p14="http://schemas.microsoft.com/office/powerpoint/2010/main" val="294134591"/>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8211-4720-7EDE-977A-7A846E9B993D}"/>
              </a:ext>
            </a:extLst>
          </p:cNvPr>
          <p:cNvSpPr>
            <a:spLocks noGrp="1"/>
          </p:cNvSpPr>
          <p:nvPr>
            <p:ph type="title"/>
          </p:nvPr>
        </p:nvSpPr>
        <p:spPr>
          <a:xfrm>
            <a:off x="1148080" y="286603"/>
            <a:ext cx="10007600" cy="5982117"/>
          </a:xfrm>
          <a:solidFill>
            <a:schemeClr val="bg1"/>
          </a:solidFill>
        </p:spPr>
        <p:txBody>
          <a:bodyPr/>
          <a:lstStyle/>
          <a:p>
            <a:endParaRPr lang="en-IN" dirty="0"/>
          </a:p>
        </p:txBody>
      </p:sp>
      <p:pic>
        <p:nvPicPr>
          <p:cNvPr id="5" name="Content Placeholder 4">
            <a:extLst>
              <a:ext uri="{FF2B5EF4-FFF2-40B4-BE49-F238E27FC236}">
                <a16:creationId xmlns:a16="http://schemas.microsoft.com/office/drawing/2014/main" id="{510ECCFF-6F7E-7DF6-2469-A3E721D12AEC}"/>
              </a:ext>
            </a:extLst>
          </p:cNvPr>
          <p:cNvPicPr>
            <a:picLocks noGrp="1" noChangeAspect="1"/>
          </p:cNvPicPr>
          <p:nvPr>
            <p:ph idx="1"/>
          </p:nvPr>
        </p:nvPicPr>
        <p:blipFill>
          <a:blip r:embed="rId2"/>
          <a:stretch>
            <a:fillRect/>
          </a:stretch>
        </p:blipFill>
        <p:spPr>
          <a:xfrm>
            <a:off x="9039905" y="368618"/>
            <a:ext cx="2503397" cy="5581650"/>
          </a:xfrm>
          <a:prstGeom prst="rect">
            <a:avLst/>
          </a:prstGeom>
          <a:ln>
            <a:noFill/>
          </a:ln>
          <a:effectLst>
            <a:outerShdw blurRad="292100" dist="139700" dir="2700000" algn="tl" rotWithShape="0">
              <a:srgbClr val="333333">
                <a:alpha val="65000"/>
              </a:srgbClr>
            </a:outerShdw>
          </a:effectLst>
        </p:spPr>
      </p:pic>
      <p:sp>
        <p:nvSpPr>
          <p:cNvPr id="6" name="Arrow: Down 5">
            <a:extLst>
              <a:ext uri="{FF2B5EF4-FFF2-40B4-BE49-F238E27FC236}">
                <a16:creationId xmlns:a16="http://schemas.microsoft.com/office/drawing/2014/main" id="{46D2B0C4-A9CB-3D12-7AED-03CFDFF10C12}"/>
              </a:ext>
            </a:extLst>
          </p:cNvPr>
          <p:cNvSpPr/>
          <p:nvPr/>
        </p:nvSpPr>
        <p:spPr>
          <a:xfrm rot="16200000">
            <a:off x="1356057" y="381303"/>
            <a:ext cx="285086" cy="7010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55EA424-5EC0-46F7-E986-A0AF2718742B}"/>
              </a:ext>
            </a:extLst>
          </p:cNvPr>
          <p:cNvSpPr txBox="1"/>
          <p:nvPr/>
        </p:nvSpPr>
        <p:spPr>
          <a:xfrm>
            <a:off x="1849120" y="589279"/>
            <a:ext cx="6035040" cy="646331"/>
          </a:xfrm>
          <a:prstGeom prst="rect">
            <a:avLst/>
          </a:prstGeom>
          <a:noFill/>
        </p:spPr>
        <p:txBody>
          <a:bodyPr wrap="square" rtlCol="0">
            <a:spAutoFit/>
          </a:bodyPr>
          <a:lstStyle/>
          <a:p>
            <a:r>
              <a:rPr lang="en-US" dirty="0"/>
              <a:t>In forgot page before you change the password you must verify your details for the security purpose.</a:t>
            </a:r>
            <a:endParaRPr lang="en-IN" dirty="0"/>
          </a:p>
        </p:txBody>
      </p:sp>
      <p:sp>
        <p:nvSpPr>
          <p:cNvPr id="8" name="Arrow: Down 7">
            <a:extLst>
              <a:ext uri="{FF2B5EF4-FFF2-40B4-BE49-F238E27FC236}">
                <a16:creationId xmlns:a16="http://schemas.microsoft.com/office/drawing/2014/main" id="{A0C5FE29-2279-70EC-4878-CC5F52C9F8E3}"/>
              </a:ext>
            </a:extLst>
          </p:cNvPr>
          <p:cNvSpPr/>
          <p:nvPr/>
        </p:nvSpPr>
        <p:spPr>
          <a:xfrm rot="16200000">
            <a:off x="1330960" y="1660595"/>
            <a:ext cx="335280" cy="7010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C08D90A-8A01-C56B-41C4-E5C68963D897}"/>
              </a:ext>
            </a:extLst>
          </p:cNvPr>
          <p:cNvSpPr txBox="1"/>
          <p:nvPr/>
        </p:nvSpPr>
        <p:spPr>
          <a:xfrm>
            <a:off x="1950720" y="1843475"/>
            <a:ext cx="5262879" cy="646331"/>
          </a:xfrm>
          <a:prstGeom prst="rect">
            <a:avLst/>
          </a:prstGeom>
          <a:noFill/>
        </p:spPr>
        <p:txBody>
          <a:bodyPr wrap="square" rtlCol="0">
            <a:spAutoFit/>
          </a:bodyPr>
          <a:lstStyle/>
          <a:p>
            <a:r>
              <a:rPr lang="en-US" dirty="0"/>
              <a:t>For the verify your details you can enter your email address and your mobile number.</a:t>
            </a:r>
            <a:endParaRPr lang="en-IN" dirty="0"/>
          </a:p>
        </p:txBody>
      </p:sp>
      <p:sp>
        <p:nvSpPr>
          <p:cNvPr id="10" name="Arrow: Down 9">
            <a:extLst>
              <a:ext uri="{FF2B5EF4-FFF2-40B4-BE49-F238E27FC236}">
                <a16:creationId xmlns:a16="http://schemas.microsoft.com/office/drawing/2014/main" id="{78B427FB-2B89-396D-23DB-B332E56ACCC7}"/>
              </a:ext>
            </a:extLst>
          </p:cNvPr>
          <p:cNvSpPr/>
          <p:nvPr/>
        </p:nvSpPr>
        <p:spPr>
          <a:xfrm rot="16200000">
            <a:off x="1365389" y="2664132"/>
            <a:ext cx="272647" cy="6948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D8169E65-C0D0-0510-2CD7-CA7255B74026}"/>
              </a:ext>
            </a:extLst>
          </p:cNvPr>
          <p:cNvSpPr txBox="1"/>
          <p:nvPr/>
        </p:nvSpPr>
        <p:spPr>
          <a:xfrm>
            <a:off x="1991360" y="2875216"/>
            <a:ext cx="4998720" cy="923330"/>
          </a:xfrm>
          <a:prstGeom prst="rect">
            <a:avLst/>
          </a:prstGeom>
          <a:noFill/>
        </p:spPr>
        <p:txBody>
          <a:bodyPr wrap="square" rtlCol="0">
            <a:spAutoFit/>
          </a:bodyPr>
          <a:lstStyle/>
          <a:p>
            <a:r>
              <a:rPr lang="en-US" dirty="0"/>
              <a:t>After that the user can press on the send </a:t>
            </a:r>
            <a:r>
              <a:rPr lang="en-US" dirty="0" err="1"/>
              <a:t>otp</a:t>
            </a:r>
            <a:r>
              <a:rPr lang="en-US" dirty="0"/>
              <a:t> button . The server will helps to send opts </a:t>
            </a:r>
            <a:r>
              <a:rPr lang="en-US" dirty="0" err="1"/>
              <a:t>twilo</a:t>
            </a:r>
            <a:r>
              <a:rPr lang="en-US" dirty="0"/>
              <a:t> </a:t>
            </a:r>
          </a:p>
          <a:p>
            <a:r>
              <a:rPr lang="en-US" dirty="0"/>
              <a:t>To the mobile numbers</a:t>
            </a:r>
            <a:endParaRPr lang="en-IN" dirty="0"/>
          </a:p>
        </p:txBody>
      </p:sp>
      <p:sp>
        <p:nvSpPr>
          <p:cNvPr id="12" name="Arrow: Down 11">
            <a:extLst>
              <a:ext uri="{FF2B5EF4-FFF2-40B4-BE49-F238E27FC236}">
                <a16:creationId xmlns:a16="http://schemas.microsoft.com/office/drawing/2014/main" id="{6D2365F9-C70A-9387-1C59-E3EA3076744C}"/>
              </a:ext>
            </a:extLst>
          </p:cNvPr>
          <p:cNvSpPr/>
          <p:nvPr/>
        </p:nvSpPr>
        <p:spPr>
          <a:xfrm rot="16200000">
            <a:off x="1396837" y="3652027"/>
            <a:ext cx="298901" cy="7964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3D977772-2C7E-A2E2-7BF6-BAC75B0E1159}"/>
              </a:ext>
            </a:extLst>
          </p:cNvPr>
          <p:cNvSpPr txBox="1"/>
          <p:nvPr/>
        </p:nvSpPr>
        <p:spPr>
          <a:xfrm>
            <a:off x="2057595" y="3895130"/>
            <a:ext cx="5156004" cy="1200329"/>
          </a:xfrm>
          <a:prstGeom prst="rect">
            <a:avLst/>
          </a:prstGeom>
          <a:noFill/>
        </p:spPr>
        <p:txBody>
          <a:bodyPr wrap="square" rtlCol="0">
            <a:spAutoFit/>
          </a:bodyPr>
          <a:lstStyle/>
          <a:p>
            <a:r>
              <a:rPr lang="en-US" dirty="0"/>
              <a:t>In database fetch the mobile number for conformation of the availability of the </a:t>
            </a:r>
            <a:r>
              <a:rPr lang="en-US" dirty="0" err="1"/>
              <a:t>detailes</a:t>
            </a:r>
            <a:r>
              <a:rPr lang="en-US" dirty="0"/>
              <a:t> if there is an available then you can access to enter the </a:t>
            </a:r>
            <a:r>
              <a:rPr lang="en-US" dirty="0" err="1"/>
              <a:t>otp</a:t>
            </a:r>
            <a:r>
              <a:rPr lang="en-US" dirty="0"/>
              <a:t> that send to your mobile number  </a:t>
            </a:r>
            <a:endParaRPr lang="en-IN" dirty="0"/>
          </a:p>
        </p:txBody>
      </p:sp>
    </p:spTree>
    <p:extLst>
      <p:ext uri="{BB962C8B-B14F-4D97-AF65-F5344CB8AC3E}">
        <p14:creationId xmlns:p14="http://schemas.microsoft.com/office/powerpoint/2010/main" val="465225687"/>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646DD-ADFD-F17F-96C1-4325550544F2}"/>
              </a:ext>
            </a:extLst>
          </p:cNvPr>
          <p:cNvSpPr>
            <a:spLocks noGrp="1"/>
          </p:cNvSpPr>
          <p:nvPr>
            <p:ph type="title"/>
          </p:nvPr>
        </p:nvSpPr>
        <p:spPr>
          <a:xfrm>
            <a:off x="1097280" y="286603"/>
            <a:ext cx="10058400" cy="702305"/>
          </a:xfrm>
        </p:spPr>
        <p:txBody>
          <a:bodyPr>
            <a:normAutofit fontScale="90000"/>
          </a:bodyPr>
          <a:lstStyle/>
          <a:p>
            <a:r>
              <a:rPr lang="en-US" dirty="0"/>
              <a:t>Home page</a:t>
            </a:r>
            <a:endParaRPr lang="en-IN" dirty="0"/>
          </a:p>
        </p:txBody>
      </p:sp>
      <p:pic>
        <p:nvPicPr>
          <p:cNvPr id="5" name="Content Placeholder 4">
            <a:extLst>
              <a:ext uri="{FF2B5EF4-FFF2-40B4-BE49-F238E27FC236}">
                <a16:creationId xmlns:a16="http://schemas.microsoft.com/office/drawing/2014/main" id="{3B33D8E6-1812-7D57-0758-42F0ECEBF443}"/>
              </a:ext>
            </a:extLst>
          </p:cNvPr>
          <p:cNvPicPr>
            <a:picLocks noGrp="1" noChangeAspect="1"/>
          </p:cNvPicPr>
          <p:nvPr>
            <p:ph idx="1"/>
          </p:nvPr>
        </p:nvPicPr>
        <p:blipFill>
          <a:blip r:embed="rId2"/>
          <a:stretch>
            <a:fillRect/>
          </a:stretch>
        </p:blipFill>
        <p:spPr>
          <a:xfrm>
            <a:off x="9557459" y="888127"/>
            <a:ext cx="2070169" cy="4619625"/>
          </a:xfrm>
        </p:spPr>
      </p:pic>
      <p:sp>
        <p:nvSpPr>
          <p:cNvPr id="6" name="TextBox 5">
            <a:extLst>
              <a:ext uri="{FF2B5EF4-FFF2-40B4-BE49-F238E27FC236}">
                <a16:creationId xmlns:a16="http://schemas.microsoft.com/office/drawing/2014/main" id="{8DB913C1-134A-B7D4-D19D-F8F7FC8D7327}"/>
              </a:ext>
            </a:extLst>
          </p:cNvPr>
          <p:cNvSpPr txBox="1"/>
          <p:nvPr/>
        </p:nvSpPr>
        <p:spPr>
          <a:xfrm rot="10800000" flipH="1" flipV="1">
            <a:off x="1199535" y="1832642"/>
            <a:ext cx="6656439" cy="923330"/>
          </a:xfrm>
          <a:prstGeom prst="rect">
            <a:avLst/>
          </a:prstGeom>
          <a:noFill/>
        </p:spPr>
        <p:txBody>
          <a:bodyPr wrap="square" rtlCol="0">
            <a:spAutoFit/>
          </a:bodyPr>
          <a:lstStyle/>
          <a:p>
            <a:r>
              <a:rPr lang="en-US" dirty="0"/>
              <a:t>This  is home page  in the home page as you see at the  at the  bottom we there are  home navigation ,search navigation ,booking navigation ,and the profile navigation </a:t>
            </a:r>
            <a:endParaRPr lang="en-IN" dirty="0"/>
          </a:p>
        </p:txBody>
      </p:sp>
      <p:sp>
        <p:nvSpPr>
          <p:cNvPr id="7" name="TextBox 6">
            <a:extLst>
              <a:ext uri="{FF2B5EF4-FFF2-40B4-BE49-F238E27FC236}">
                <a16:creationId xmlns:a16="http://schemas.microsoft.com/office/drawing/2014/main" id="{D0913E1E-9D86-6ED4-CE92-F1C79069E4E0}"/>
              </a:ext>
            </a:extLst>
          </p:cNvPr>
          <p:cNvSpPr txBox="1"/>
          <p:nvPr/>
        </p:nvSpPr>
        <p:spPr>
          <a:xfrm>
            <a:off x="1332271" y="2971800"/>
            <a:ext cx="6189406" cy="923330"/>
          </a:xfrm>
          <a:prstGeom prst="rect">
            <a:avLst/>
          </a:prstGeom>
          <a:noFill/>
        </p:spPr>
        <p:txBody>
          <a:bodyPr wrap="square" rtlCol="0">
            <a:spAutoFit/>
          </a:bodyPr>
          <a:lstStyle/>
          <a:p>
            <a:r>
              <a:rPr lang="en-US" dirty="0"/>
              <a:t>In the interface there are we add places and hotels and  the user wants to give any feed back about the any </a:t>
            </a:r>
            <a:r>
              <a:rPr lang="en-US" dirty="0" err="1"/>
              <a:t>qiuary</a:t>
            </a:r>
            <a:r>
              <a:rPr lang="en-US" dirty="0"/>
              <a:t> we also provide that option also.</a:t>
            </a:r>
            <a:endParaRPr lang="en-IN" dirty="0"/>
          </a:p>
        </p:txBody>
      </p:sp>
    </p:spTree>
    <p:extLst>
      <p:ext uri="{BB962C8B-B14F-4D97-AF65-F5344CB8AC3E}">
        <p14:creationId xmlns:p14="http://schemas.microsoft.com/office/powerpoint/2010/main" val="3947562125"/>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F011A-B034-70C3-BB86-CCD250DE87AA}"/>
              </a:ext>
            </a:extLst>
          </p:cNvPr>
          <p:cNvSpPr>
            <a:spLocks noGrp="1"/>
          </p:cNvSpPr>
          <p:nvPr>
            <p:ph type="title"/>
          </p:nvPr>
        </p:nvSpPr>
        <p:spPr/>
        <p:txBody>
          <a:bodyPr/>
          <a:lstStyle/>
          <a:p>
            <a:r>
              <a:rPr lang="en-US" dirty="0"/>
              <a:t>States page </a:t>
            </a:r>
            <a:endParaRPr lang="en-IN" dirty="0"/>
          </a:p>
        </p:txBody>
      </p:sp>
      <p:pic>
        <p:nvPicPr>
          <p:cNvPr id="5" name="Content Placeholder 4">
            <a:extLst>
              <a:ext uri="{FF2B5EF4-FFF2-40B4-BE49-F238E27FC236}">
                <a16:creationId xmlns:a16="http://schemas.microsoft.com/office/drawing/2014/main" id="{792541F4-2B5C-98E8-9EE9-8707EC904DC0}"/>
              </a:ext>
            </a:extLst>
          </p:cNvPr>
          <p:cNvPicPr>
            <a:picLocks noGrp="1" noChangeAspect="1"/>
          </p:cNvPicPr>
          <p:nvPr>
            <p:ph idx="1"/>
          </p:nvPr>
        </p:nvPicPr>
        <p:blipFill>
          <a:blip r:embed="rId2"/>
          <a:stretch>
            <a:fillRect/>
          </a:stretch>
        </p:blipFill>
        <p:spPr>
          <a:xfrm>
            <a:off x="8878529" y="732527"/>
            <a:ext cx="2760607" cy="5186491"/>
          </a:xfrm>
        </p:spPr>
      </p:pic>
      <p:sp>
        <p:nvSpPr>
          <p:cNvPr id="6" name="TextBox 5">
            <a:extLst>
              <a:ext uri="{FF2B5EF4-FFF2-40B4-BE49-F238E27FC236}">
                <a16:creationId xmlns:a16="http://schemas.microsoft.com/office/drawing/2014/main" id="{91777A18-C22C-D768-0CAE-85C07285D788}"/>
              </a:ext>
            </a:extLst>
          </p:cNvPr>
          <p:cNvSpPr txBox="1"/>
          <p:nvPr/>
        </p:nvSpPr>
        <p:spPr>
          <a:xfrm>
            <a:off x="1253613" y="2207342"/>
            <a:ext cx="6159910" cy="923330"/>
          </a:xfrm>
          <a:prstGeom prst="rect">
            <a:avLst/>
          </a:prstGeom>
          <a:noFill/>
        </p:spPr>
        <p:txBody>
          <a:bodyPr wrap="square" rtlCol="0">
            <a:spAutoFit/>
          </a:bodyPr>
          <a:lstStyle/>
          <a:p>
            <a:r>
              <a:rPr lang="en-US" dirty="0"/>
              <a:t>In this states page we see the states in the India this page will helps to the user which state the user wants to explore user can chose </a:t>
            </a:r>
            <a:endParaRPr lang="en-IN" dirty="0"/>
          </a:p>
        </p:txBody>
      </p:sp>
    </p:spTree>
    <p:extLst>
      <p:ext uri="{BB962C8B-B14F-4D97-AF65-F5344CB8AC3E}">
        <p14:creationId xmlns:p14="http://schemas.microsoft.com/office/powerpoint/2010/main" val="1688492484"/>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678B4-5362-921A-53BE-D09404DB092C}"/>
              </a:ext>
            </a:extLst>
          </p:cNvPr>
          <p:cNvSpPr>
            <a:spLocks noGrp="1"/>
          </p:cNvSpPr>
          <p:nvPr>
            <p:ph type="title"/>
          </p:nvPr>
        </p:nvSpPr>
        <p:spPr/>
        <p:txBody>
          <a:bodyPr/>
          <a:lstStyle/>
          <a:p>
            <a:r>
              <a:rPr lang="en-US" dirty="0"/>
              <a:t>Search engine</a:t>
            </a:r>
            <a:endParaRPr lang="en-IN" dirty="0"/>
          </a:p>
        </p:txBody>
      </p:sp>
      <p:pic>
        <p:nvPicPr>
          <p:cNvPr id="5" name="Content Placeholder 4">
            <a:extLst>
              <a:ext uri="{FF2B5EF4-FFF2-40B4-BE49-F238E27FC236}">
                <a16:creationId xmlns:a16="http://schemas.microsoft.com/office/drawing/2014/main" id="{60D4D2C3-C332-94E1-52E4-B414347AC082}"/>
              </a:ext>
            </a:extLst>
          </p:cNvPr>
          <p:cNvPicPr>
            <a:picLocks noGrp="1" noChangeAspect="1"/>
          </p:cNvPicPr>
          <p:nvPr>
            <p:ph idx="1"/>
          </p:nvPr>
        </p:nvPicPr>
        <p:blipFill>
          <a:blip r:embed="rId2"/>
          <a:stretch>
            <a:fillRect/>
          </a:stretch>
        </p:blipFill>
        <p:spPr>
          <a:xfrm>
            <a:off x="8770375" y="603864"/>
            <a:ext cx="2563962" cy="5138174"/>
          </a:xfrm>
        </p:spPr>
      </p:pic>
      <p:sp>
        <p:nvSpPr>
          <p:cNvPr id="7" name="TextBox 6">
            <a:extLst>
              <a:ext uri="{FF2B5EF4-FFF2-40B4-BE49-F238E27FC236}">
                <a16:creationId xmlns:a16="http://schemas.microsoft.com/office/drawing/2014/main" id="{41099E9D-6666-15F6-E62B-CCA4A99BEE75}"/>
              </a:ext>
            </a:extLst>
          </p:cNvPr>
          <p:cNvSpPr txBox="1"/>
          <p:nvPr/>
        </p:nvSpPr>
        <p:spPr>
          <a:xfrm>
            <a:off x="1376516" y="2389239"/>
            <a:ext cx="6322142" cy="923330"/>
          </a:xfrm>
          <a:prstGeom prst="rect">
            <a:avLst/>
          </a:prstGeom>
          <a:noFill/>
        </p:spPr>
        <p:txBody>
          <a:bodyPr wrap="square" rtlCol="0">
            <a:spAutoFit/>
          </a:bodyPr>
          <a:lstStyle/>
          <a:p>
            <a:r>
              <a:rPr lang="en-US" dirty="0"/>
              <a:t>If the user can go though the search page this search engine will redirect the states page </a:t>
            </a:r>
          </a:p>
          <a:p>
            <a:endParaRPr lang="en-IN" dirty="0"/>
          </a:p>
        </p:txBody>
      </p:sp>
    </p:spTree>
    <p:extLst>
      <p:ext uri="{BB962C8B-B14F-4D97-AF65-F5344CB8AC3E}">
        <p14:creationId xmlns:p14="http://schemas.microsoft.com/office/powerpoint/2010/main" val="2386968873"/>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F8C8A-C88C-0D83-59A1-36E7070D3946}"/>
              </a:ext>
            </a:extLst>
          </p:cNvPr>
          <p:cNvSpPr>
            <a:spLocks noGrp="1"/>
          </p:cNvSpPr>
          <p:nvPr>
            <p:ph type="title"/>
          </p:nvPr>
        </p:nvSpPr>
        <p:spPr/>
        <p:txBody>
          <a:bodyPr/>
          <a:lstStyle/>
          <a:p>
            <a:r>
              <a:rPr lang="en-US" dirty="0"/>
              <a:t>Inside state page </a:t>
            </a:r>
            <a:endParaRPr lang="en-IN" dirty="0"/>
          </a:p>
        </p:txBody>
      </p:sp>
      <p:pic>
        <p:nvPicPr>
          <p:cNvPr id="5" name="Content Placeholder 4">
            <a:extLst>
              <a:ext uri="{FF2B5EF4-FFF2-40B4-BE49-F238E27FC236}">
                <a16:creationId xmlns:a16="http://schemas.microsoft.com/office/drawing/2014/main" id="{826E5458-6AA8-0C8D-5AA1-1A9B6CE9D51F}"/>
              </a:ext>
            </a:extLst>
          </p:cNvPr>
          <p:cNvPicPr>
            <a:picLocks noGrp="1" noChangeAspect="1"/>
          </p:cNvPicPr>
          <p:nvPr>
            <p:ph idx="1"/>
          </p:nvPr>
        </p:nvPicPr>
        <p:blipFill>
          <a:blip r:embed="rId2"/>
          <a:stretch>
            <a:fillRect/>
          </a:stretch>
        </p:blipFill>
        <p:spPr>
          <a:xfrm>
            <a:off x="9409417" y="889000"/>
            <a:ext cx="1685303" cy="3760788"/>
          </a:xfrm>
        </p:spPr>
      </p:pic>
      <p:sp>
        <p:nvSpPr>
          <p:cNvPr id="6" name="TextBox 5">
            <a:extLst>
              <a:ext uri="{FF2B5EF4-FFF2-40B4-BE49-F238E27FC236}">
                <a16:creationId xmlns:a16="http://schemas.microsoft.com/office/drawing/2014/main" id="{9F1AB1AB-1F21-8AE0-F78B-FE16B1DA6666}"/>
              </a:ext>
            </a:extLst>
          </p:cNvPr>
          <p:cNvSpPr txBox="1"/>
          <p:nvPr/>
        </p:nvSpPr>
        <p:spPr>
          <a:xfrm>
            <a:off x="1097279" y="2094271"/>
            <a:ext cx="7535443" cy="1200329"/>
          </a:xfrm>
          <a:prstGeom prst="rect">
            <a:avLst/>
          </a:prstGeom>
          <a:noFill/>
        </p:spPr>
        <p:txBody>
          <a:bodyPr wrap="square" rtlCol="0">
            <a:spAutoFit/>
          </a:bodyPr>
          <a:lstStyle/>
          <a:p>
            <a:r>
              <a:rPr lang="en-US" dirty="0"/>
              <a:t>Here the user can choses the Telangana  state in side of the </a:t>
            </a:r>
            <a:r>
              <a:rPr lang="en-US" dirty="0" err="1"/>
              <a:t>Telngana</a:t>
            </a:r>
            <a:r>
              <a:rPr lang="en-US" dirty="0"/>
              <a:t> state   we see the paces to visit if the user can click on any place then it will redirect the next page , after that n the interface there is some information about the state an the culture of the state.</a:t>
            </a:r>
            <a:endParaRPr lang="en-IN" dirty="0"/>
          </a:p>
        </p:txBody>
      </p:sp>
    </p:spTree>
    <p:extLst>
      <p:ext uri="{BB962C8B-B14F-4D97-AF65-F5344CB8AC3E}">
        <p14:creationId xmlns:p14="http://schemas.microsoft.com/office/powerpoint/2010/main" val="2137837853"/>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7CDEB-FC58-CDAE-75CF-CC387604D722}"/>
              </a:ext>
            </a:extLst>
          </p:cNvPr>
          <p:cNvSpPr>
            <a:spLocks noGrp="1"/>
          </p:cNvSpPr>
          <p:nvPr>
            <p:ph type="title"/>
          </p:nvPr>
        </p:nvSpPr>
        <p:spPr/>
        <p:txBody>
          <a:bodyPr/>
          <a:lstStyle/>
          <a:p>
            <a:r>
              <a:rPr lang="en-US" dirty="0"/>
              <a:t>Place to visit</a:t>
            </a:r>
            <a:endParaRPr lang="en-IN" dirty="0"/>
          </a:p>
        </p:txBody>
      </p:sp>
      <p:pic>
        <p:nvPicPr>
          <p:cNvPr id="5" name="Content Placeholder 4">
            <a:extLst>
              <a:ext uri="{FF2B5EF4-FFF2-40B4-BE49-F238E27FC236}">
                <a16:creationId xmlns:a16="http://schemas.microsoft.com/office/drawing/2014/main" id="{8044A2F3-A58E-2F75-4AF4-EDFBFBF5A218}"/>
              </a:ext>
            </a:extLst>
          </p:cNvPr>
          <p:cNvPicPr>
            <a:picLocks noGrp="1" noChangeAspect="1"/>
          </p:cNvPicPr>
          <p:nvPr>
            <p:ph idx="1"/>
          </p:nvPr>
        </p:nvPicPr>
        <p:blipFill>
          <a:blip r:embed="rId2"/>
          <a:stretch>
            <a:fillRect/>
          </a:stretch>
        </p:blipFill>
        <p:spPr>
          <a:xfrm>
            <a:off x="9658866" y="1548606"/>
            <a:ext cx="1685303" cy="3760788"/>
          </a:xfrm>
        </p:spPr>
      </p:pic>
      <p:sp>
        <p:nvSpPr>
          <p:cNvPr id="7" name="TextBox 6">
            <a:extLst>
              <a:ext uri="{FF2B5EF4-FFF2-40B4-BE49-F238E27FC236}">
                <a16:creationId xmlns:a16="http://schemas.microsoft.com/office/drawing/2014/main" id="{D0ECE09E-6E11-5C2A-9364-C697BD078665}"/>
              </a:ext>
            </a:extLst>
          </p:cNvPr>
          <p:cNvSpPr txBox="1"/>
          <p:nvPr/>
        </p:nvSpPr>
        <p:spPr>
          <a:xfrm>
            <a:off x="1097280" y="2074606"/>
            <a:ext cx="7584604" cy="923330"/>
          </a:xfrm>
          <a:prstGeom prst="rect">
            <a:avLst/>
          </a:prstGeom>
          <a:noFill/>
        </p:spPr>
        <p:txBody>
          <a:bodyPr wrap="square" rtlCol="0">
            <a:spAutoFit/>
          </a:bodyPr>
          <a:lstStyle/>
          <a:p>
            <a:r>
              <a:rPr lang="en-US" dirty="0"/>
              <a:t>If the user  can click on the give list of places the it will redirected to the place of the page .in that interface we seen the list of mode of travelling to reach the chosen destination. </a:t>
            </a:r>
            <a:endParaRPr lang="en-IN" dirty="0"/>
          </a:p>
        </p:txBody>
      </p:sp>
    </p:spTree>
    <p:extLst>
      <p:ext uri="{BB962C8B-B14F-4D97-AF65-F5344CB8AC3E}">
        <p14:creationId xmlns:p14="http://schemas.microsoft.com/office/powerpoint/2010/main" val="2967653657"/>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4C3F-D913-9F91-67E0-DF79E054F50A}"/>
              </a:ext>
            </a:extLst>
          </p:cNvPr>
          <p:cNvSpPr>
            <a:spLocks noGrp="1"/>
          </p:cNvSpPr>
          <p:nvPr>
            <p:ph type="title"/>
          </p:nvPr>
        </p:nvSpPr>
        <p:spPr/>
        <p:txBody>
          <a:bodyPr/>
          <a:lstStyle/>
          <a:p>
            <a:r>
              <a:rPr lang="en-US" dirty="0"/>
              <a:t>Mode of  transport </a:t>
            </a:r>
            <a:endParaRPr lang="en-IN" dirty="0"/>
          </a:p>
        </p:txBody>
      </p:sp>
      <p:pic>
        <p:nvPicPr>
          <p:cNvPr id="5" name="Content Placeholder 4">
            <a:extLst>
              <a:ext uri="{FF2B5EF4-FFF2-40B4-BE49-F238E27FC236}">
                <a16:creationId xmlns:a16="http://schemas.microsoft.com/office/drawing/2014/main" id="{CA07DBDC-AB0B-6386-7560-671E4BAADDE8}"/>
              </a:ext>
            </a:extLst>
          </p:cNvPr>
          <p:cNvPicPr>
            <a:picLocks noGrp="1" noChangeAspect="1"/>
          </p:cNvPicPr>
          <p:nvPr>
            <p:ph idx="1"/>
          </p:nvPr>
        </p:nvPicPr>
        <p:blipFill>
          <a:blip r:embed="rId2"/>
          <a:stretch>
            <a:fillRect/>
          </a:stretch>
        </p:blipFill>
        <p:spPr>
          <a:xfrm>
            <a:off x="6896001" y="1882058"/>
            <a:ext cx="1685303" cy="3760788"/>
          </a:xfrm>
        </p:spPr>
      </p:pic>
      <p:pic>
        <p:nvPicPr>
          <p:cNvPr id="7" name="Picture 6">
            <a:extLst>
              <a:ext uri="{FF2B5EF4-FFF2-40B4-BE49-F238E27FC236}">
                <a16:creationId xmlns:a16="http://schemas.microsoft.com/office/drawing/2014/main" id="{3EAFDB98-FA96-6777-3F45-1811040AD79D}"/>
              </a:ext>
            </a:extLst>
          </p:cNvPr>
          <p:cNvPicPr>
            <a:picLocks noChangeAspect="1"/>
          </p:cNvPicPr>
          <p:nvPr/>
        </p:nvPicPr>
        <p:blipFill>
          <a:blip r:embed="rId3"/>
          <a:stretch>
            <a:fillRect/>
          </a:stretch>
        </p:blipFill>
        <p:spPr>
          <a:xfrm>
            <a:off x="9135314" y="1882059"/>
            <a:ext cx="1959406" cy="3760788"/>
          </a:xfrm>
          <a:prstGeom prst="rect">
            <a:avLst/>
          </a:prstGeom>
        </p:spPr>
      </p:pic>
      <p:sp>
        <p:nvSpPr>
          <p:cNvPr id="8" name="TextBox 7">
            <a:extLst>
              <a:ext uri="{FF2B5EF4-FFF2-40B4-BE49-F238E27FC236}">
                <a16:creationId xmlns:a16="http://schemas.microsoft.com/office/drawing/2014/main" id="{85E71E58-0359-F932-84B9-B43C99D15723}"/>
              </a:ext>
            </a:extLst>
          </p:cNvPr>
          <p:cNvSpPr txBox="1"/>
          <p:nvPr/>
        </p:nvSpPr>
        <p:spPr>
          <a:xfrm>
            <a:off x="1194618" y="2128683"/>
            <a:ext cx="5039033" cy="923330"/>
          </a:xfrm>
          <a:prstGeom prst="rect">
            <a:avLst/>
          </a:prstGeom>
          <a:noFill/>
        </p:spPr>
        <p:txBody>
          <a:bodyPr wrap="square" rtlCol="0">
            <a:spAutoFit/>
          </a:bodyPr>
          <a:lstStyle/>
          <a:p>
            <a:r>
              <a:rPr lang="en-US" dirty="0"/>
              <a:t>If the user reach the destination. After </a:t>
            </a:r>
            <a:r>
              <a:rPr lang="en-US" dirty="0" err="1"/>
              <a:t>rach</a:t>
            </a:r>
            <a:r>
              <a:rPr lang="en-US" dirty="0"/>
              <a:t> the destination user can use travel  locally via </a:t>
            </a:r>
            <a:r>
              <a:rPr lang="en-US" dirty="0" err="1"/>
              <a:t>bikes,cars</a:t>
            </a:r>
            <a:endParaRPr lang="en-IN" dirty="0"/>
          </a:p>
        </p:txBody>
      </p:sp>
    </p:spTree>
    <p:extLst>
      <p:ext uri="{BB962C8B-B14F-4D97-AF65-F5344CB8AC3E}">
        <p14:creationId xmlns:p14="http://schemas.microsoft.com/office/powerpoint/2010/main" val="1063004387"/>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CBAC8-9AF0-7A70-9B57-B6567D6C3F84}"/>
              </a:ext>
            </a:extLst>
          </p:cNvPr>
          <p:cNvSpPr>
            <a:spLocks noGrp="1"/>
          </p:cNvSpPr>
          <p:nvPr>
            <p:ph type="title"/>
          </p:nvPr>
        </p:nvSpPr>
        <p:spPr/>
        <p:txBody>
          <a:bodyPr/>
          <a:lstStyle/>
          <a:p>
            <a:r>
              <a:rPr lang="en-US" dirty="0"/>
              <a:t>Profile page </a:t>
            </a:r>
            <a:endParaRPr lang="en-IN" dirty="0"/>
          </a:p>
        </p:txBody>
      </p:sp>
      <p:pic>
        <p:nvPicPr>
          <p:cNvPr id="5" name="Content Placeholder 4">
            <a:extLst>
              <a:ext uri="{FF2B5EF4-FFF2-40B4-BE49-F238E27FC236}">
                <a16:creationId xmlns:a16="http://schemas.microsoft.com/office/drawing/2014/main" id="{C5D1FB0F-B464-41E2-3A00-7F8795983538}"/>
              </a:ext>
            </a:extLst>
          </p:cNvPr>
          <p:cNvPicPr>
            <a:picLocks noGrp="1" noChangeAspect="1"/>
          </p:cNvPicPr>
          <p:nvPr>
            <p:ph idx="1"/>
          </p:nvPr>
        </p:nvPicPr>
        <p:blipFill>
          <a:blip r:embed="rId2"/>
          <a:stretch>
            <a:fillRect/>
          </a:stretch>
        </p:blipFill>
        <p:spPr>
          <a:xfrm>
            <a:off x="9470377" y="1891890"/>
            <a:ext cx="1685303" cy="3760788"/>
          </a:xfrm>
        </p:spPr>
      </p:pic>
      <p:sp>
        <p:nvSpPr>
          <p:cNvPr id="7" name="TextBox 6">
            <a:extLst>
              <a:ext uri="{FF2B5EF4-FFF2-40B4-BE49-F238E27FC236}">
                <a16:creationId xmlns:a16="http://schemas.microsoft.com/office/drawing/2014/main" id="{69B9399D-D219-B95C-0DA7-D01BC650BF9F}"/>
              </a:ext>
            </a:extLst>
          </p:cNvPr>
          <p:cNvSpPr txBox="1"/>
          <p:nvPr/>
        </p:nvSpPr>
        <p:spPr>
          <a:xfrm flipH="1">
            <a:off x="1264428" y="2171143"/>
            <a:ext cx="6296577" cy="646331"/>
          </a:xfrm>
          <a:prstGeom prst="rect">
            <a:avLst/>
          </a:prstGeom>
          <a:noFill/>
        </p:spPr>
        <p:txBody>
          <a:bodyPr wrap="square" rtlCol="0">
            <a:spAutoFit/>
          </a:bodyPr>
          <a:lstStyle/>
          <a:p>
            <a:r>
              <a:rPr lang="en-US" dirty="0"/>
              <a:t>In this  profile page  </a:t>
            </a:r>
            <a:r>
              <a:rPr lang="en-US" dirty="0" err="1"/>
              <a:t>diplay</a:t>
            </a:r>
            <a:r>
              <a:rPr lang="en-US" dirty="0"/>
              <a:t> user details and the log out button for the log out from the user account</a:t>
            </a:r>
            <a:endParaRPr lang="en-IN" dirty="0"/>
          </a:p>
        </p:txBody>
      </p:sp>
    </p:spTree>
    <p:extLst>
      <p:ext uri="{BB962C8B-B14F-4D97-AF65-F5344CB8AC3E}">
        <p14:creationId xmlns:p14="http://schemas.microsoft.com/office/powerpoint/2010/main" val="3727284446"/>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808B-D9F2-5373-7E29-020CF787FD41}"/>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882B1536-8681-685F-B349-A606176349B6}"/>
              </a:ext>
            </a:extLst>
          </p:cNvPr>
          <p:cNvSpPr>
            <a:spLocks noGrp="1"/>
          </p:cNvSpPr>
          <p:nvPr>
            <p:ph idx="1"/>
          </p:nvPr>
        </p:nvSpPr>
        <p:spPr/>
        <p:txBody>
          <a:bodyPr/>
          <a:lstStyle/>
          <a:p>
            <a:r>
              <a:rPr lang="en-US" dirty="0">
                <a:hlinkClick r:id="rId2"/>
              </a:rPr>
              <a:t>Flight, Cheap Air Tickets , Hotels, Holiday, Trains Package Booking - Yatra.com</a:t>
            </a:r>
            <a:endParaRPr lang="en-US" dirty="0"/>
          </a:p>
          <a:p>
            <a:endParaRPr lang="en-US" dirty="0"/>
          </a:p>
          <a:p>
            <a:r>
              <a:rPr lang="en-IN" dirty="0">
                <a:hlinkClick r:id="rId3"/>
              </a:rPr>
              <a:t>IRCTC Next Generation </a:t>
            </a:r>
            <a:r>
              <a:rPr lang="en-IN" dirty="0" err="1">
                <a:hlinkClick r:id="rId3"/>
              </a:rPr>
              <a:t>eTicketing</a:t>
            </a:r>
            <a:r>
              <a:rPr lang="en-IN" dirty="0">
                <a:hlinkClick r:id="rId3"/>
              </a:rPr>
              <a:t> System</a:t>
            </a:r>
            <a:endParaRPr lang="en-IN" dirty="0"/>
          </a:p>
          <a:p>
            <a:endParaRPr lang="en-IN" dirty="0"/>
          </a:p>
          <a:p>
            <a:r>
              <a:rPr lang="en-US" dirty="0">
                <a:hlinkClick r:id="rId4"/>
              </a:rPr>
              <a:t>Bus Ticket Booking Online at Cheapest Price with Top Bus Operators- redBus</a:t>
            </a:r>
            <a:endParaRPr lang="en-US" dirty="0"/>
          </a:p>
          <a:p>
            <a:endParaRPr lang="en-US" dirty="0"/>
          </a:p>
          <a:p>
            <a:r>
              <a:rPr lang="en-US" dirty="0"/>
              <a:t>In these reference we used.</a:t>
            </a:r>
            <a:endParaRPr lang="en-IN" dirty="0"/>
          </a:p>
        </p:txBody>
      </p:sp>
    </p:spTree>
    <p:extLst>
      <p:ext uri="{BB962C8B-B14F-4D97-AF65-F5344CB8AC3E}">
        <p14:creationId xmlns:p14="http://schemas.microsoft.com/office/powerpoint/2010/main" val="1034018857"/>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AFA23-4816-4EFE-9B69-5B039853EED7}"/>
              </a:ext>
            </a:extLst>
          </p:cNvPr>
          <p:cNvSpPr>
            <a:spLocks noGrp="1"/>
          </p:cNvSpPr>
          <p:nvPr>
            <p:ph type="title"/>
          </p:nvPr>
        </p:nvSpPr>
        <p:spPr>
          <a:xfrm flipV="1">
            <a:off x="1097280" y="-698090"/>
            <a:ext cx="10058400" cy="984693"/>
          </a:xfrm>
        </p:spPr>
        <p:txBody>
          <a:bodyPr/>
          <a:lstStyle/>
          <a:p>
            <a:endParaRPr lang="en-IN" dirty="0"/>
          </a:p>
        </p:txBody>
      </p:sp>
      <p:sp>
        <p:nvSpPr>
          <p:cNvPr id="3" name="Content Placeholder 2">
            <a:extLst>
              <a:ext uri="{FF2B5EF4-FFF2-40B4-BE49-F238E27FC236}">
                <a16:creationId xmlns:a16="http://schemas.microsoft.com/office/drawing/2014/main" id="{1179C713-F027-1EDC-AFC9-E4EDA51620DA}"/>
              </a:ext>
            </a:extLst>
          </p:cNvPr>
          <p:cNvSpPr>
            <a:spLocks noGrp="1"/>
          </p:cNvSpPr>
          <p:nvPr>
            <p:ph idx="1"/>
          </p:nvPr>
        </p:nvSpPr>
        <p:spPr>
          <a:xfrm flipV="1">
            <a:off x="1818968" y="5869092"/>
            <a:ext cx="9336712" cy="1573927"/>
          </a:xfrm>
        </p:spPr>
        <p:txBody>
          <a:bodyPr/>
          <a:lstStyle/>
          <a:p>
            <a:endParaRPr lang="en-IN" dirty="0"/>
          </a:p>
        </p:txBody>
      </p:sp>
      <p:sp>
        <p:nvSpPr>
          <p:cNvPr id="5" name="TextBox 4">
            <a:extLst>
              <a:ext uri="{FF2B5EF4-FFF2-40B4-BE49-F238E27FC236}">
                <a16:creationId xmlns:a16="http://schemas.microsoft.com/office/drawing/2014/main" id="{83CE2979-58D6-A8C8-AD7C-D8D07378C3CE}"/>
              </a:ext>
            </a:extLst>
          </p:cNvPr>
          <p:cNvSpPr txBox="1"/>
          <p:nvPr/>
        </p:nvSpPr>
        <p:spPr>
          <a:xfrm>
            <a:off x="5289755" y="3342968"/>
            <a:ext cx="1848464" cy="584775"/>
          </a:xfrm>
          <a:prstGeom prst="rect">
            <a:avLst/>
          </a:prstGeom>
          <a:noFill/>
        </p:spPr>
        <p:txBody>
          <a:bodyPr wrap="square" rtlCol="0">
            <a:spAutoFit/>
          </a:bodyPr>
          <a:lstStyle/>
          <a:p>
            <a:r>
              <a:rPr lang="en-US" sz="3200" b="1" dirty="0"/>
              <a:t>END</a:t>
            </a:r>
            <a:endParaRPr lang="en-IN" sz="3200" b="1" dirty="0"/>
          </a:p>
        </p:txBody>
      </p:sp>
    </p:spTree>
    <p:extLst>
      <p:ext uri="{BB962C8B-B14F-4D97-AF65-F5344CB8AC3E}">
        <p14:creationId xmlns:p14="http://schemas.microsoft.com/office/powerpoint/2010/main" val="418342374"/>
      </p:ext>
    </p:extLst>
  </p:cSld>
  <p:clrMapOvr>
    <a:masterClrMapping/>
  </p:clrMapOvr>
  <p:transition spd="slow">
    <p:randomBar dir="vert"/>
  </p:transition>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{50FD0C60-C90B-480D-8546-A708AB71B1D8}tf11437505_win32</Template>
  <TotalTime>239</TotalTime>
  <Words>1083</Words>
  <Application>Microsoft Office PowerPoint</Application>
  <PresentationFormat>Widescreen</PresentationFormat>
  <Paragraphs>80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Georgia Pro Cond Light</vt:lpstr>
      <vt:lpstr>Speak Pro</vt:lpstr>
      <vt:lpstr>RetrospectVTI</vt:lpstr>
      <vt:lpstr>Explore it an android app</vt:lpstr>
      <vt:lpstr>Abstract </vt:lpstr>
      <vt:lpstr>CONTENTS</vt:lpstr>
      <vt:lpstr>1.0 Introduction</vt:lpstr>
      <vt:lpstr>2.0 Tool used </vt:lpstr>
      <vt:lpstr>3.0 Challenges and solutions </vt:lpstr>
      <vt:lpstr>4.0 Flowchart</vt:lpstr>
      <vt:lpstr>5.0 Working </vt:lpstr>
      <vt:lpstr>PowerPoint Presentation</vt:lpstr>
      <vt:lpstr>PowerPoint Presentation</vt:lpstr>
      <vt:lpstr>PowerPoint Presentation</vt:lpstr>
      <vt:lpstr>Home page</vt:lpstr>
      <vt:lpstr>States page </vt:lpstr>
      <vt:lpstr>Search engine</vt:lpstr>
      <vt:lpstr>Inside state page </vt:lpstr>
      <vt:lpstr>Place to visit</vt:lpstr>
      <vt:lpstr>Mode of  transport </vt:lpstr>
      <vt:lpstr>Profile page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Yadav</dc:creator>
  <cp:lastModifiedBy>Karthik Yadav</cp:lastModifiedBy>
  <cp:revision>17</cp:revision>
  <dcterms:created xsi:type="dcterms:W3CDTF">2025-05-01T18:44:57Z</dcterms:created>
  <dcterms:modified xsi:type="dcterms:W3CDTF">2025-05-03T16:18:34Z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